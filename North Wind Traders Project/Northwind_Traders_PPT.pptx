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6" r:id="rId2"/>
    <p:sldId id="271" r:id="rId3"/>
    <p:sldId id="257" r:id="rId4"/>
    <p:sldId id="258" r:id="rId5"/>
    <p:sldId id="260" r:id="rId6"/>
    <p:sldId id="261" r:id="rId7"/>
    <p:sldId id="262" r:id="rId8"/>
    <p:sldId id="270" r:id="rId9"/>
    <p:sldId id="263" r:id="rId10"/>
    <p:sldId id="272" r:id="rId11"/>
    <p:sldId id="266" r:id="rId12"/>
    <p:sldId id="265" r:id="rId13"/>
    <p:sldId id="264" r:id="rId14"/>
    <p:sldId id="273" r:id="rId15"/>
    <p:sldId id="274" r:id="rId16"/>
    <p:sldId id="275" r:id="rId17"/>
    <p:sldId id="267" r:id="rId18"/>
    <p:sldId id="268" r:id="rId19"/>
    <p:sldId id="276" r:id="rId20"/>
    <p:sldId id="269" r:id="rId21"/>
    <p:sldId id="277" r:id="rId22"/>
  </p:sldIdLst>
  <p:sldSz cx="10799763" cy="8999538"/>
  <p:notesSz cx="6858000" cy="9144000"/>
  <p:defaultTextStyle>
    <a:defPPr>
      <a:defRPr lang="en-US"/>
    </a:defPPr>
    <a:lvl1pPr marL="0" algn="l" defTabSz="565572" rtl="0" eaLnBrk="1" latinLnBrk="0" hangingPunct="1">
      <a:defRPr sz="2227" kern="1200">
        <a:solidFill>
          <a:schemeClr val="tx1"/>
        </a:solidFill>
        <a:latin typeface="+mn-lt"/>
        <a:ea typeface="+mn-ea"/>
        <a:cs typeface="+mn-cs"/>
      </a:defRPr>
    </a:lvl1pPr>
    <a:lvl2pPr marL="565572" algn="l" defTabSz="565572" rtl="0" eaLnBrk="1" latinLnBrk="0" hangingPunct="1">
      <a:defRPr sz="2227" kern="1200">
        <a:solidFill>
          <a:schemeClr val="tx1"/>
        </a:solidFill>
        <a:latin typeface="+mn-lt"/>
        <a:ea typeface="+mn-ea"/>
        <a:cs typeface="+mn-cs"/>
      </a:defRPr>
    </a:lvl2pPr>
    <a:lvl3pPr marL="1131143" algn="l" defTabSz="565572" rtl="0" eaLnBrk="1" latinLnBrk="0" hangingPunct="1">
      <a:defRPr sz="2227" kern="1200">
        <a:solidFill>
          <a:schemeClr val="tx1"/>
        </a:solidFill>
        <a:latin typeface="+mn-lt"/>
        <a:ea typeface="+mn-ea"/>
        <a:cs typeface="+mn-cs"/>
      </a:defRPr>
    </a:lvl3pPr>
    <a:lvl4pPr marL="1696713" algn="l" defTabSz="565572" rtl="0" eaLnBrk="1" latinLnBrk="0" hangingPunct="1">
      <a:defRPr sz="2227" kern="1200">
        <a:solidFill>
          <a:schemeClr val="tx1"/>
        </a:solidFill>
        <a:latin typeface="+mn-lt"/>
        <a:ea typeface="+mn-ea"/>
        <a:cs typeface="+mn-cs"/>
      </a:defRPr>
    </a:lvl4pPr>
    <a:lvl5pPr marL="2262284" algn="l" defTabSz="565572" rtl="0" eaLnBrk="1" latinLnBrk="0" hangingPunct="1">
      <a:defRPr sz="2227" kern="1200">
        <a:solidFill>
          <a:schemeClr val="tx1"/>
        </a:solidFill>
        <a:latin typeface="+mn-lt"/>
        <a:ea typeface="+mn-ea"/>
        <a:cs typeface="+mn-cs"/>
      </a:defRPr>
    </a:lvl5pPr>
    <a:lvl6pPr marL="2827856" algn="l" defTabSz="565572" rtl="0" eaLnBrk="1" latinLnBrk="0" hangingPunct="1">
      <a:defRPr sz="2227" kern="1200">
        <a:solidFill>
          <a:schemeClr val="tx1"/>
        </a:solidFill>
        <a:latin typeface="+mn-lt"/>
        <a:ea typeface="+mn-ea"/>
        <a:cs typeface="+mn-cs"/>
      </a:defRPr>
    </a:lvl6pPr>
    <a:lvl7pPr marL="3393427" algn="l" defTabSz="565572" rtl="0" eaLnBrk="1" latinLnBrk="0" hangingPunct="1">
      <a:defRPr sz="2227" kern="1200">
        <a:solidFill>
          <a:schemeClr val="tx1"/>
        </a:solidFill>
        <a:latin typeface="+mn-lt"/>
        <a:ea typeface="+mn-ea"/>
        <a:cs typeface="+mn-cs"/>
      </a:defRPr>
    </a:lvl7pPr>
    <a:lvl8pPr marL="3958999" algn="l" defTabSz="565572" rtl="0" eaLnBrk="1" latinLnBrk="0" hangingPunct="1">
      <a:defRPr sz="2227" kern="1200">
        <a:solidFill>
          <a:schemeClr val="tx1"/>
        </a:solidFill>
        <a:latin typeface="+mn-lt"/>
        <a:ea typeface="+mn-ea"/>
        <a:cs typeface="+mn-cs"/>
      </a:defRPr>
    </a:lvl8pPr>
    <a:lvl9pPr marL="4524569" algn="l" defTabSz="565572" rtl="0" eaLnBrk="1" latinLnBrk="0" hangingPunct="1">
      <a:defRPr sz="2227"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35" userDrawn="1">
          <p15:clr>
            <a:srgbClr val="A4A3A4"/>
          </p15:clr>
        </p15:guide>
        <p15:guide id="2" pos="340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60" d="100"/>
          <a:sy n="60" d="100"/>
        </p:scale>
        <p:origin x="1786" y="62"/>
      </p:cViewPr>
      <p:guideLst>
        <p:guide orient="horz" pos="2835"/>
        <p:guide pos="3403"/>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09448" y="1472843"/>
            <a:ext cx="9180871" cy="3133172"/>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809448" y="4726841"/>
            <a:ext cx="9180871" cy="2172804"/>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6448700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9278174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088875" y="862460"/>
            <a:ext cx="8622017" cy="374355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088875" y="4726844"/>
            <a:ext cx="8622017" cy="1968648"/>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923447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809449" y="799962"/>
            <a:ext cx="9171438" cy="174048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809447" y="2740439"/>
            <a:ext cx="4522936" cy="48591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468445" y="2740439"/>
            <a:ext cx="4512440" cy="48591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8352432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09449" y="799961"/>
            <a:ext cx="9171438" cy="1739495"/>
          </a:xfrm>
        </p:spPr>
        <p:txBody>
          <a:bodyPr/>
          <a:lstStyle/>
          <a:p>
            <a:r>
              <a:rPr lang="en-US"/>
              <a:t>Click to edit Master title style</a:t>
            </a:r>
            <a:endParaRPr lang="en-US" dirty="0"/>
          </a:p>
        </p:txBody>
      </p:sp>
      <p:sp>
        <p:nvSpPr>
          <p:cNvPr id="3" name="Text Placeholder 2"/>
          <p:cNvSpPr>
            <a:spLocks noGrp="1"/>
          </p:cNvSpPr>
          <p:nvPr>
            <p:ph type="body" idx="1"/>
          </p:nvPr>
        </p:nvSpPr>
        <p:spPr>
          <a:xfrm>
            <a:off x="1081190" y="2740437"/>
            <a:ext cx="4252260" cy="1081193"/>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09447" y="3821630"/>
            <a:ext cx="4524002" cy="37779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739122" y="2740437"/>
            <a:ext cx="4241762" cy="1081193"/>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467380" y="3821630"/>
            <a:ext cx="4513505" cy="377798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1/17/2026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521153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1/17/2026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83804112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1/17/2026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8347304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487" y="799959"/>
            <a:ext cx="3483205" cy="3099841"/>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4498188" y="799958"/>
            <a:ext cx="5482697" cy="6799652"/>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12487" y="3899803"/>
            <a:ext cx="3483205" cy="369980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693467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489" y="799959"/>
            <a:ext cx="4922258" cy="3099841"/>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200571" y="995857"/>
            <a:ext cx="3504180" cy="6407857"/>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09446" y="3899799"/>
            <a:ext cx="4926556" cy="369981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0756665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09459" y="5628810"/>
            <a:ext cx="9183664" cy="1075214"/>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09459" y="815343"/>
            <a:ext cx="9183664" cy="4435120"/>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09447" y="6704025"/>
            <a:ext cx="9182277" cy="895586"/>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05700961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09447" y="799961"/>
            <a:ext cx="9171439" cy="4494335"/>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09449" y="5517853"/>
            <a:ext cx="9171438" cy="208937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7459322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281067" y="799959"/>
            <a:ext cx="8240446" cy="392749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524161" y="4737332"/>
            <a:ext cx="7752850" cy="560091"/>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809445" y="5517854"/>
            <a:ext cx="9171439" cy="2081757"/>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
        <p:nvSpPr>
          <p:cNvPr id="10" name="TextBox 9"/>
          <p:cNvSpPr txBox="1"/>
          <p:nvPr/>
        </p:nvSpPr>
        <p:spPr>
          <a:xfrm>
            <a:off x="596735" y="842149"/>
            <a:ext cx="539988" cy="767384"/>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9385686" y="4033096"/>
            <a:ext cx="539988" cy="767384"/>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61374497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09457" y="2791121"/>
            <a:ext cx="9172825" cy="3296203"/>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809447" y="6102780"/>
            <a:ext cx="9171439" cy="1496831"/>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1/17/2026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68506977"/>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809445" y="799961"/>
            <a:ext cx="9171439" cy="1739495"/>
          </a:xfrm>
        </p:spPr>
        <p:txBody>
          <a:bodyPr/>
          <a:lstStyle/>
          <a:p>
            <a:r>
              <a:rPr lang="en-US"/>
              <a:t>Click to edit Master title style</a:t>
            </a:r>
            <a:endParaRPr lang="en-US" dirty="0"/>
          </a:p>
        </p:txBody>
      </p:sp>
      <p:sp>
        <p:nvSpPr>
          <p:cNvPr id="7" name="Text Placeholder 2"/>
          <p:cNvSpPr>
            <a:spLocks noGrp="1"/>
          </p:cNvSpPr>
          <p:nvPr>
            <p:ph type="body" idx="1"/>
          </p:nvPr>
        </p:nvSpPr>
        <p:spPr>
          <a:xfrm>
            <a:off x="809448" y="2740438"/>
            <a:ext cx="2922239" cy="1080397"/>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809448" y="3820833"/>
            <a:ext cx="2922239" cy="377877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37305" y="2740437"/>
            <a:ext cx="2921888" cy="1080396"/>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37307" y="3820833"/>
            <a:ext cx="2923006" cy="377877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062806" y="2740437"/>
            <a:ext cx="2915378" cy="1080396"/>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065507" y="3820833"/>
            <a:ext cx="2915378" cy="377877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603402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809447" y="799961"/>
            <a:ext cx="9171439" cy="1739495"/>
          </a:xfrm>
        </p:spPr>
        <p:txBody>
          <a:bodyPr/>
          <a:lstStyle/>
          <a:p>
            <a:r>
              <a:rPr lang="en-US"/>
              <a:t>Click to edit Master title style</a:t>
            </a:r>
            <a:endParaRPr lang="en-US" dirty="0"/>
          </a:p>
        </p:txBody>
      </p:sp>
      <p:sp>
        <p:nvSpPr>
          <p:cNvPr id="19" name="Text Placeholder 2"/>
          <p:cNvSpPr>
            <a:spLocks noGrp="1"/>
          </p:cNvSpPr>
          <p:nvPr>
            <p:ph type="body" idx="1"/>
          </p:nvPr>
        </p:nvSpPr>
        <p:spPr>
          <a:xfrm>
            <a:off x="809448" y="5234832"/>
            <a:ext cx="2922238" cy="756211"/>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967321" y="2745576"/>
            <a:ext cx="2604318" cy="1999897"/>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809448" y="5991042"/>
            <a:ext cx="2922238" cy="160856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35379" y="5234832"/>
            <a:ext cx="2922264" cy="756211"/>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047250" y="2745576"/>
            <a:ext cx="2595881" cy="1999897"/>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34180" y="5991041"/>
            <a:ext cx="2923461" cy="160856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062918" y="5234832"/>
            <a:ext cx="2914218" cy="756211"/>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21814" y="2745576"/>
            <a:ext cx="2597287" cy="1999897"/>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062805" y="5991043"/>
            <a:ext cx="2918078" cy="160856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5BCAD085-E8A6-8845-BD4E-CB4CCA059FC4}" type="datetimeFigureOut">
              <a:rPr lang="en-US" smtClean="0"/>
              <a:t>1/17/2026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0979842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5223262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728581" y="799960"/>
            <a:ext cx="2252305" cy="6799653"/>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809448" y="799960"/>
            <a:ext cx="6784137" cy="6799653"/>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1/17/2026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2637828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09449" y="799962"/>
            <a:ext cx="9171438" cy="1740489"/>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09447" y="2750599"/>
            <a:ext cx="9171439" cy="484901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01882" y="7720440"/>
            <a:ext cx="2429947" cy="479142"/>
          </a:xfrm>
          <a:prstGeom prst="rect">
            <a:avLst/>
          </a:prstGeom>
        </p:spPr>
        <p:txBody>
          <a:bodyPr vert="horz" lIns="91440" tIns="45720" rIns="91440" bIns="45720" rtlCol="0" anchor="ctr"/>
          <a:lstStyle>
            <a:lvl1pPr algn="r">
              <a:defRPr sz="1000">
                <a:solidFill>
                  <a:schemeClr val="tx1">
                    <a:tint val="75000"/>
                  </a:schemeClr>
                </a:solidFill>
              </a:defRPr>
            </a:lvl1pPr>
          </a:lstStyle>
          <a:p>
            <a:fld id="{5BCAD085-E8A6-8845-BD4E-CB4CCA059FC4}" type="datetimeFigureOut">
              <a:rPr lang="en-US" smtClean="0"/>
              <a:t>1/17/2026</a:t>
            </a:fld>
            <a:endParaRPr lang="en-US"/>
          </a:p>
        </p:txBody>
      </p:sp>
      <p:sp>
        <p:nvSpPr>
          <p:cNvPr id="5" name="Footer Placeholder 4"/>
          <p:cNvSpPr>
            <a:spLocks noGrp="1"/>
          </p:cNvSpPr>
          <p:nvPr>
            <p:ph type="ftr" sz="quarter" idx="3"/>
          </p:nvPr>
        </p:nvSpPr>
        <p:spPr>
          <a:xfrm>
            <a:off x="809448" y="7720440"/>
            <a:ext cx="5910873" cy="479142"/>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9313390" y="7720440"/>
            <a:ext cx="667495" cy="479142"/>
          </a:xfrm>
          <a:prstGeom prst="rect">
            <a:avLst/>
          </a:prstGeom>
        </p:spPr>
        <p:txBody>
          <a:bodyPr vert="horz" lIns="91440" tIns="45720" rIns="91440" bIns="45720" rtlCol="0" anchor="ctr"/>
          <a:lstStyle>
            <a:lvl1pPr algn="r">
              <a:defRPr sz="10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677710327"/>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48949" y="112260"/>
            <a:ext cx="8500000" cy="1059167"/>
          </a:xfrm>
        </p:spPr>
        <p:txBody>
          <a:bodyPr>
            <a:normAutofit/>
          </a:bodyPr>
          <a:lstStyle/>
          <a:p>
            <a:r>
              <a:rPr u="sng" dirty="0">
                <a:solidFill>
                  <a:srgbClr val="00B050"/>
                </a:solidFill>
                <a:highlight>
                  <a:srgbClr val="C0C0C0"/>
                </a:highlight>
              </a:rPr>
              <a:t>Northwind Traders – Power BI Analysis</a:t>
            </a:r>
          </a:p>
        </p:txBody>
      </p:sp>
      <p:sp>
        <p:nvSpPr>
          <p:cNvPr id="3" name="Content Placeholder 2"/>
          <p:cNvSpPr>
            <a:spLocks noGrp="1"/>
          </p:cNvSpPr>
          <p:nvPr>
            <p:ph idx="1"/>
          </p:nvPr>
        </p:nvSpPr>
        <p:spPr>
          <a:xfrm>
            <a:off x="482600" y="1385104"/>
            <a:ext cx="10058400" cy="6234896"/>
          </a:xfrm>
        </p:spPr>
        <p:txBody>
          <a:bodyPr/>
          <a:lstStyle/>
          <a:p>
            <a:pPr algn="ctr"/>
            <a:r>
              <a:rPr sz="2800" b="1" u="sng" dirty="0">
                <a:solidFill>
                  <a:srgbClr val="FF0000"/>
                </a:solidFill>
              </a:rPr>
              <a:t>Business Intelligence &amp; Analytics Dashboard</a:t>
            </a:r>
            <a:endParaRPr lang="en-US" sz="2800" b="1" u="sng" dirty="0">
              <a:solidFill>
                <a:srgbClr val="FF0000"/>
              </a:solidFill>
            </a:endParaRPr>
          </a:p>
          <a:p>
            <a:pPr marL="0" indent="0">
              <a:buNone/>
            </a:pPr>
            <a:endParaRPr dirty="0">
              <a:solidFill>
                <a:srgbClr val="FF0000"/>
              </a:solidFill>
            </a:endParaRPr>
          </a:p>
        </p:txBody>
      </p:sp>
      <p:pic>
        <p:nvPicPr>
          <p:cNvPr id="5" name="Picture 4">
            <a:extLst>
              <a:ext uri="{FF2B5EF4-FFF2-40B4-BE49-F238E27FC236}">
                <a16:creationId xmlns:a16="http://schemas.microsoft.com/office/drawing/2014/main" id="{B5937E09-DEFE-B091-CDAD-2D707C054B34}"/>
              </a:ext>
            </a:extLst>
          </p:cNvPr>
          <p:cNvPicPr>
            <a:picLocks noChangeAspect="1"/>
          </p:cNvPicPr>
          <p:nvPr/>
        </p:nvPicPr>
        <p:blipFill>
          <a:blip r:embed="rId2"/>
          <a:stretch>
            <a:fillRect/>
          </a:stretch>
        </p:blipFill>
        <p:spPr>
          <a:xfrm>
            <a:off x="627016" y="2305098"/>
            <a:ext cx="9797144" cy="4745236"/>
          </a:xfrm>
          <a:prstGeom prst="rect">
            <a:avLst/>
          </a:prstGeom>
        </p:spPr>
      </p:pic>
      <p:sp>
        <p:nvSpPr>
          <p:cNvPr id="6" name="TextBox 5">
            <a:extLst>
              <a:ext uri="{FF2B5EF4-FFF2-40B4-BE49-F238E27FC236}">
                <a16:creationId xmlns:a16="http://schemas.microsoft.com/office/drawing/2014/main" id="{0BB2B875-5D6F-4003-D7BE-83D0547520BE}"/>
              </a:ext>
            </a:extLst>
          </p:cNvPr>
          <p:cNvSpPr txBox="1"/>
          <p:nvPr/>
        </p:nvSpPr>
        <p:spPr>
          <a:xfrm>
            <a:off x="6861220" y="7965265"/>
            <a:ext cx="3562940" cy="435056"/>
          </a:xfrm>
          <a:prstGeom prst="rect">
            <a:avLst/>
          </a:prstGeom>
          <a:noFill/>
        </p:spPr>
        <p:txBody>
          <a:bodyPr wrap="square" rtlCol="0">
            <a:spAutoFit/>
          </a:bodyPr>
          <a:lstStyle/>
          <a:p>
            <a:r>
              <a:rPr lang="en-US" dirty="0"/>
              <a:t>Prepared by - SAGAR S M</a:t>
            </a:r>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FEFC8E-FA32-431D-BDFF-DC13692CB23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5AA711-C898-6B28-DC05-0C1CB63D6D60}"/>
              </a:ext>
            </a:extLst>
          </p:cNvPr>
          <p:cNvSpPr>
            <a:spLocks noGrp="1"/>
          </p:cNvSpPr>
          <p:nvPr>
            <p:ph type="title"/>
          </p:nvPr>
        </p:nvSpPr>
        <p:spPr>
          <a:xfrm>
            <a:off x="2987424" y="167992"/>
            <a:ext cx="5000017" cy="713361"/>
          </a:xfrm>
        </p:spPr>
        <p:txBody>
          <a:bodyPr>
            <a:normAutofit fontScale="90000"/>
          </a:bodyPr>
          <a:lstStyle/>
          <a:p>
            <a:r>
              <a:rPr dirty="0">
                <a:solidFill>
                  <a:srgbClr val="00B050"/>
                </a:solidFill>
                <a:highlight>
                  <a:srgbClr val="C0C0C0"/>
                </a:highlight>
              </a:rPr>
              <a:t>Project Overview</a:t>
            </a:r>
          </a:p>
        </p:txBody>
      </p:sp>
      <p:sp>
        <p:nvSpPr>
          <p:cNvPr id="3" name="Content Placeholder 2">
            <a:extLst>
              <a:ext uri="{FF2B5EF4-FFF2-40B4-BE49-F238E27FC236}">
                <a16:creationId xmlns:a16="http://schemas.microsoft.com/office/drawing/2014/main" id="{FD4577E9-6B14-3D7F-D9D7-3481D4FA2EC8}"/>
              </a:ext>
            </a:extLst>
          </p:cNvPr>
          <p:cNvSpPr>
            <a:spLocks noGrp="1"/>
          </p:cNvSpPr>
          <p:nvPr>
            <p:ph idx="1"/>
          </p:nvPr>
        </p:nvSpPr>
        <p:spPr>
          <a:xfrm>
            <a:off x="711200" y="1049696"/>
            <a:ext cx="9525000" cy="7497404"/>
          </a:xfrm>
        </p:spPr>
        <p:txBody>
          <a:bodyPr>
            <a:normAutofit fontScale="55000" lnSpcReduction="20000"/>
          </a:bodyPr>
          <a:lstStyle/>
          <a:p>
            <a:pPr algn="just"/>
            <a:r>
              <a:rPr lang="en-IN" sz="5300" b="1" u="sng" dirty="0">
                <a:latin typeface="Calibri" panose="020F0502020204030204" pitchFamily="34" charset="0"/>
              </a:rPr>
              <a:t>Project Objective: </a:t>
            </a:r>
            <a:r>
              <a:rPr lang="en-IN" sz="4200" dirty="0"/>
              <a:t>Develop a comprehensive, interactive Power BI dashboard that transforms Northwind Traders' data into actionable insights across six key business areas, enabling data-driven decision making and operational optimization. </a:t>
            </a:r>
            <a:r>
              <a:rPr sz="4000" dirty="0"/>
              <a:t>Analysis of sales, customers, suppliers, shipping, and logistics using Excel</a:t>
            </a:r>
            <a:r>
              <a:rPr lang="en-US" sz="4000" dirty="0"/>
              <a:t>, SQL</a:t>
            </a:r>
            <a:r>
              <a:rPr sz="4000" dirty="0"/>
              <a:t> &amp; Power BI.</a:t>
            </a:r>
            <a:endParaRPr lang="en-US" sz="4000" dirty="0"/>
          </a:p>
          <a:p>
            <a:pPr algn="just"/>
            <a:r>
              <a:rPr lang="en-US" sz="5100" b="1" u="sng" dirty="0">
                <a:latin typeface="Calibri" panose="020F0502020204030204" pitchFamily="34" charset="0"/>
              </a:rPr>
              <a:t>Analysis Scope: </a:t>
            </a:r>
            <a:r>
              <a:rPr lang="en-US" sz="4300" dirty="0"/>
              <a:t>Comprehensive analysis covering customer demographics and behavior, sales trends and revenue tracking, employee performance, product profitability and inventory management, supplier reliability, and shipping efficiency. The scope includes data from seven core entities: Customers, Employees, Products, Orders, Suppliers, Categories, and Shippers.</a:t>
            </a:r>
          </a:p>
          <a:p>
            <a:pPr algn="just"/>
            <a:r>
              <a:rPr lang="en-US" sz="5000" b="1" u="sng" dirty="0">
                <a:latin typeface="Calibri" panose="020F0502020204030204" pitchFamily="34" charset="0"/>
              </a:rPr>
              <a:t>Goal: </a:t>
            </a:r>
            <a:r>
              <a:rPr lang="en-US" sz="4300" dirty="0"/>
              <a:t>Create a visually appealing, interactive dashboard providing a holistic operational view with dynamic filtering, drill-down capabilities, and ad hoc analysis functionality. Enable stakeholders to independently explore data patterns and make informed decisions across all organizational levels to maintain competitiveness.</a:t>
            </a:r>
          </a:p>
          <a:p>
            <a:pPr marL="228600" lvl="1" algn="just">
              <a:spcBef>
                <a:spcPts val="1000"/>
              </a:spcBef>
            </a:pPr>
            <a:endParaRPr lang="en-US" sz="4300" dirty="0"/>
          </a:p>
          <a:p>
            <a:pPr marL="228600" lvl="1" algn="just">
              <a:spcBef>
                <a:spcPts val="1000"/>
              </a:spcBef>
            </a:pPr>
            <a:endParaRPr lang="en-US" sz="4300" dirty="0"/>
          </a:p>
          <a:p>
            <a:pPr marL="228600" lvl="1" algn="just">
              <a:spcBef>
                <a:spcPts val="1000"/>
              </a:spcBef>
            </a:pPr>
            <a:endParaRPr lang="en-US" sz="4300" dirty="0"/>
          </a:p>
          <a:p>
            <a:endParaRPr lang="en-US" sz="2800" b="1" u="sng" dirty="0">
              <a:latin typeface="Calibri" panose="020F0502020204030204" pitchFamily="34" charset="0"/>
            </a:endParaRPr>
          </a:p>
          <a:p>
            <a:endParaRPr sz="2400" dirty="0">
              <a:solidFill>
                <a:srgbClr val="000000"/>
              </a:solidFill>
              <a:latin typeface="Calibri" panose="020F0502020204030204" pitchFamily="34" charset="0"/>
            </a:endParaRPr>
          </a:p>
        </p:txBody>
      </p:sp>
    </p:spTree>
    <p:extLst>
      <p:ext uri="{BB962C8B-B14F-4D97-AF65-F5344CB8AC3E}">
        <p14:creationId xmlns:p14="http://schemas.microsoft.com/office/powerpoint/2010/main" val="326581434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52837" y="132592"/>
            <a:ext cx="5107021" cy="723088"/>
          </a:xfrm>
        </p:spPr>
        <p:txBody>
          <a:bodyPr/>
          <a:lstStyle/>
          <a:p>
            <a:r>
              <a:rPr u="sng" dirty="0">
                <a:solidFill>
                  <a:srgbClr val="00B050"/>
                </a:solidFill>
                <a:highlight>
                  <a:srgbClr val="C0C0C0"/>
                </a:highlight>
              </a:rPr>
              <a:t>Project Overview</a:t>
            </a:r>
          </a:p>
        </p:txBody>
      </p:sp>
      <p:sp>
        <p:nvSpPr>
          <p:cNvPr id="3" name="Content Placeholder 2"/>
          <p:cNvSpPr>
            <a:spLocks noGrp="1"/>
          </p:cNvSpPr>
          <p:nvPr>
            <p:ph idx="1"/>
          </p:nvPr>
        </p:nvSpPr>
        <p:spPr>
          <a:xfrm>
            <a:off x="660400" y="1039180"/>
            <a:ext cx="9525000" cy="7711120"/>
          </a:xfrm>
        </p:spPr>
        <p:txBody>
          <a:bodyPr>
            <a:normAutofit fontScale="32500" lnSpcReduction="20000"/>
          </a:bodyPr>
          <a:lstStyle/>
          <a:p>
            <a:pPr algn="just"/>
            <a:r>
              <a:rPr lang="en-US" sz="7400" b="1" u="sng" dirty="0">
                <a:latin typeface="Calibri" panose="020F0502020204030204" pitchFamily="34" charset="0"/>
              </a:rPr>
              <a:t>Insights &amp; Recommendations: </a:t>
            </a:r>
            <a:r>
              <a:rPr lang="en-US" sz="7400" dirty="0"/>
              <a:t>Key focus areas include optimizing inventory levels to reduce carrying costs, enhancing customer satisfaction through behavioral insights to reduce churn, analyzing sales patterns to identify seasonal trends and growth opportunities, and recognizing top performers to boost productivity and inform training initiatives.</a:t>
            </a:r>
          </a:p>
          <a:p>
            <a:pPr algn="just"/>
            <a:r>
              <a:rPr lang="en-US" sz="7400" b="1" u="sng" dirty="0">
                <a:latin typeface="Calibri" panose="020F0502020204030204" pitchFamily="34" charset="0"/>
              </a:rPr>
              <a:t>Report &amp; Presentation</a:t>
            </a:r>
            <a:r>
              <a:rPr lang="en-US" sz="7400" dirty="0"/>
              <a:t>: Deliver a comprehensive Power BI report with consistent design language, interactive visualizations (charts, graphs, tables), cross-filtering capabilities, and intuitive navigation. The presentation should clearly communicate complex data patterns to business stakeholders, decision makers, and data analysts for real-world business intelligence application.</a:t>
            </a:r>
          </a:p>
          <a:p>
            <a:pPr algn="just"/>
            <a:r>
              <a:rPr lang="en-US" sz="7400" b="1" u="sng" dirty="0">
                <a:latin typeface="Calibri" panose="020F0502020204030204" pitchFamily="34" charset="0"/>
              </a:rPr>
              <a:t>Overall Insights: </a:t>
            </a:r>
            <a:r>
              <a:rPr lang="en-US" sz="7400" dirty="0"/>
              <a:t>The project enables customer intelligence through preference analysis, sales optimization via trend identification, operational excellence through inventory and supply chain streamlining, and workforce management through performance recognition. Success is measured by stakeholders' ability to independently explore data and drive decisions that enhance competitiveness in the wholesale market.</a:t>
            </a:r>
          </a:p>
          <a:p>
            <a:endParaRPr lang="en-US" sz="3700" b="1" u="sng" dirty="0">
              <a:latin typeface="Calibri" panose="020F0502020204030204" pitchFamily="34" charset="0"/>
            </a:endParaRPr>
          </a:p>
          <a:p>
            <a:endParaRPr sz="2400" dirty="0">
              <a:solidFill>
                <a:srgbClr val="000000"/>
              </a:solidFill>
              <a:latin typeface="Calibri" panose="020F050202020403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668358" y="480629"/>
            <a:ext cx="3210128" cy="470169"/>
          </a:xfrm>
        </p:spPr>
        <p:txBody>
          <a:bodyPr>
            <a:normAutofit fontScale="90000"/>
          </a:bodyPr>
          <a:lstStyle/>
          <a:p>
            <a:r>
              <a:rPr u="sng" dirty="0"/>
              <a:t>E</a:t>
            </a:r>
            <a:r>
              <a:rPr lang="en-US" u="sng" dirty="0"/>
              <a:t>R Diagram</a:t>
            </a:r>
            <a:endParaRPr u="sng" dirty="0"/>
          </a:p>
        </p:txBody>
      </p:sp>
      <p:pic>
        <p:nvPicPr>
          <p:cNvPr id="5" name="Picture 4">
            <a:extLst>
              <a:ext uri="{FF2B5EF4-FFF2-40B4-BE49-F238E27FC236}">
                <a16:creationId xmlns:a16="http://schemas.microsoft.com/office/drawing/2014/main" id="{D45DD38A-B8B6-64AB-3780-D25A0CDD9C06}"/>
              </a:ext>
            </a:extLst>
          </p:cNvPr>
          <p:cNvPicPr>
            <a:picLocks noChangeAspect="1"/>
          </p:cNvPicPr>
          <p:nvPr/>
        </p:nvPicPr>
        <p:blipFill>
          <a:blip r:embed="rId2"/>
          <a:stretch>
            <a:fillRect/>
          </a:stretch>
        </p:blipFill>
        <p:spPr>
          <a:xfrm>
            <a:off x="949418" y="1897623"/>
            <a:ext cx="8900931" cy="5448465"/>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4549" y="203063"/>
            <a:ext cx="9171438" cy="762138"/>
          </a:xfrm>
        </p:spPr>
        <p:txBody>
          <a:bodyPr/>
          <a:lstStyle/>
          <a:p>
            <a:r>
              <a:rPr dirty="0"/>
              <a:t>Power BI EDA – Questions </a:t>
            </a:r>
          </a:p>
        </p:txBody>
      </p:sp>
      <p:sp>
        <p:nvSpPr>
          <p:cNvPr id="3" name="Content Placeholder 2"/>
          <p:cNvSpPr>
            <a:spLocks noGrp="1"/>
          </p:cNvSpPr>
          <p:nvPr>
            <p:ph idx="1"/>
          </p:nvPr>
        </p:nvSpPr>
        <p:spPr>
          <a:xfrm>
            <a:off x="673100" y="985300"/>
            <a:ext cx="9472887" cy="7650700"/>
          </a:xfrm>
        </p:spPr>
        <p:txBody>
          <a:bodyPr>
            <a:normAutofit/>
          </a:bodyPr>
          <a:lstStyle/>
          <a:p>
            <a:pPr marL="342900" indent="-342900" algn="just">
              <a:lnSpc>
                <a:spcPct val="107000"/>
              </a:lnSpc>
              <a:spcAft>
                <a:spcPts val="800"/>
              </a:spcAft>
              <a:buFont typeface="+mj-lt"/>
              <a:buAutoNum type="arabicPeriod"/>
            </a:pPr>
            <a:r>
              <a:rPr lang="en-IN" sz="2400" dirty="0">
                <a:effectLst/>
                <a:latin typeface="Times New Roman" panose="02020603050405020304" pitchFamily="18" charset="0"/>
                <a:ea typeface="Times New Roman" panose="02020603050405020304" pitchFamily="18" charset="0"/>
              </a:rPr>
              <a:t>How does customer distribution vary across different countries or cities? Use bar chart or map to visualize.</a:t>
            </a:r>
          </a:p>
          <a:p>
            <a:pPr marL="342900" indent="-342900" algn="just">
              <a:lnSpc>
                <a:spcPct val="107000"/>
              </a:lnSpc>
              <a:spcAft>
                <a:spcPts val="800"/>
              </a:spcAft>
              <a:buFont typeface="+mj-lt"/>
              <a:buAutoNum type="arabicPeriod"/>
            </a:pPr>
            <a:r>
              <a:rPr lang="en-IN" sz="2400" dirty="0">
                <a:effectLst/>
                <a:latin typeface="Times New Roman" panose="02020603050405020304" pitchFamily="18" charset="0"/>
                <a:ea typeface="Times New Roman" panose="02020603050405020304" pitchFamily="18" charset="0"/>
              </a:rPr>
              <a:t>What is the trend in customer orders over time? Use line chart or area chart to visualize.</a:t>
            </a:r>
          </a:p>
          <a:p>
            <a:pPr marL="342900" indent="-342900" algn="just">
              <a:lnSpc>
                <a:spcPct val="107000"/>
              </a:lnSpc>
              <a:spcAft>
                <a:spcPts val="800"/>
              </a:spcAft>
              <a:buFont typeface="+mj-lt"/>
              <a:buAutoNum type="arabicPeriod"/>
            </a:pPr>
            <a:r>
              <a:rPr lang="en-IN" sz="2400" dirty="0">
                <a:effectLst/>
                <a:latin typeface="Times New Roman" panose="02020603050405020304" pitchFamily="18" charset="0"/>
                <a:ea typeface="Times New Roman" panose="02020603050405020304" pitchFamily="18" charset="0"/>
              </a:rPr>
              <a:t>What is the distribution of customers by Contact Title or Region? Use stacked bar chart or pie chart to visualize.</a:t>
            </a:r>
          </a:p>
          <a:p>
            <a:pPr marL="342900" indent="-342900" algn="just">
              <a:lnSpc>
                <a:spcPct val="107000"/>
              </a:lnSpc>
              <a:spcAft>
                <a:spcPts val="800"/>
              </a:spcAft>
              <a:buFont typeface="+mj-lt"/>
              <a:buAutoNum type="arabicPeriod"/>
            </a:pPr>
            <a:r>
              <a:rPr lang="en-IN" sz="2400" dirty="0">
                <a:effectLst/>
                <a:latin typeface="Times New Roman" panose="02020603050405020304" pitchFamily="18" charset="0"/>
                <a:ea typeface="Times New Roman" panose="02020603050405020304" pitchFamily="18" charset="0"/>
              </a:rPr>
              <a:t>How does order volume change over time? Use line chart or stacked bar chart to visualize.</a:t>
            </a:r>
          </a:p>
          <a:p>
            <a:pPr marL="342900" indent="-342900" algn="just">
              <a:lnSpc>
                <a:spcPct val="107000"/>
              </a:lnSpc>
              <a:spcAft>
                <a:spcPts val="800"/>
              </a:spcAft>
              <a:buFont typeface="+mj-lt"/>
              <a:buAutoNum type="arabicPeriod"/>
            </a:pPr>
            <a:r>
              <a:rPr lang="en-IN" sz="2400" dirty="0">
                <a:effectLst/>
                <a:latin typeface="Times New Roman" panose="02020603050405020304" pitchFamily="18" charset="0"/>
                <a:ea typeface="Times New Roman" panose="02020603050405020304" pitchFamily="18" charset="0"/>
              </a:rPr>
              <a:t>What is the distribution of order values? Use histogram or box plot to visualize.</a:t>
            </a:r>
          </a:p>
          <a:p>
            <a:pPr marL="342900" indent="-342900" algn="just">
              <a:lnSpc>
                <a:spcPct val="107000"/>
              </a:lnSpc>
              <a:spcAft>
                <a:spcPts val="800"/>
              </a:spcAft>
              <a:buFont typeface="+mj-lt"/>
              <a:buAutoNum type="arabicPeriod"/>
            </a:pPr>
            <a:r>
              <a:rPr lang="en-IN" sz="2400" dirty="0">
                <a:effectLst/>
                <a:latin typeface="Times New Roman" panose="02020603050405020304" pitchFamily="18" charset="0"/>
                <a:ea typeface="Times New Roman" panose="02020603050405020304" pitchFamily="18" charset="0"/>
              </a:rPr>
              <a:t>What is the average order shipping duration? Use bar chart or box plot to visualize.</a:t>
            </a:r>
          </a:p>
          <a:p>
            <a:pPr marL="342900" indent="-342900" algn="just">
              <a:lnSpc>
                <a:spcPct val="107000"/>
              </a:lnSpc>
              <a:spcAft>
                <a:spcPts val="800"/>
              </a:spcAft>
              <a:buFont typeface="+mj-lt"/>
              <a:buAutoNum type="arabicPeriod"/>
            </a:pPr>
            <a:r>
              <a:rPr lang="en-IN" sz="2400" dirty="0">
                <a:effectLst/>
                <a:latin typeface="Times New Roman" panose="02020603050405020304" pitchFamily="18" charset="0"/>
                <a:ea typeface="Times New Roman" panose="02020603050405020304" pitchFamily="18" charset="0"/>
              </a:rPr>
              <a:t>What is the count of employees by job title or region? Use stacked bar chart or tree map to visualize.</a:t>
            </a:r>
          </a:p>
          <a:p>
            <a:pPr marL="0" indent="0">
              <a:lnSpc>
                <a:spcPct val="107000"/>
              </a:lnSpc>
              <a:spcAft>
                <a:spcPts val="800"/>
              </a:spcAft>
              <a:buNone/>
            </a:pPr>
            <a:endParaRPr lang="en-IN" sz="1800" dirty="0">
              <a:effectLst/>
              <a:latin typeface="Times New Roman" panose="02020603050405020304" pitchFamily="18" charset="0"/>
              <a:ea typeface="Times New Roman" panose="02020603050405020304" pitchFamily="18" charset="0"/>
            </a:endParaRPr>
          </a:p>
          <a:p>
            <a:endParaRPr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09449" y="368163"/>
            <a:ext cx="9171438" cy="863738"/>
          </a:xfrm>
        </p:spPr>
        <p:txBody>
          <a:bodyPr/>
          <a:lstStyle/>
          <a:p>
            <a:r>
              <a:rPr dirty="0"/>
              <a:t>Power BI EDA – Questions </a:t>
            </a:r>
          </a:p>
        </p:txBody>
      </p:sp>
      <p:sp>
        <p:nvSpPr>
          <p:cNvPr id="3" name="Content Placeholder 2"/>
          <p:cNvSpPr>
            <a:spLocks noGrp="1"/>
          </p:cNvSpPr>
          <p:nvPr>
            <p:ph idx="1"/>
          </p:nvPr>
        </p:nvSpPr>
        <p:spPr>
          <a:xfrm>
            <a:off x="508000" y="1273158"/>
            <a:ext cx="9842499" cy="7108841"/>
          </a:xfrm>
        </p:spPr>
        <p:txBody>
          <a:bodyPr>
            <a:normAutofit fontScale="92500" lnSpcReduction="20000"/>
          </a:bodyPr>
          <a:lstStyle/>
          <a:p>
            <a:pPr marL="457200" indent="-457200" algn="just">
              <a:lnSpc>
                <a:spcPct val="107000"/>
              </a:lnSpc>
              <a:spcAft>
                <a:spcPts val="800"/>
              </a:spcAft>
              <a:buAutoNum type="arabicPeriod" startAt="8"/>
            </a:pPr>
            <a:r>
              <a:rPr lang="en-IN" sz="2600" dirty="0">
                <a:effectLst/>
                <a:latin typeface="Times New Roman" panose="02020603050405020304" pitchFamily="18" charset="0"/>
              </a:rPr>
              <a:t>What is the distribution of employee tenure? Use histogram or box plot to visualize.</a:t>
            </a:r>
          </a:p>
          <a:p>
            <a:pPr marL="457200" indent="-457200" algn="just">
              <a:lnSpc>
                <a:spcPct val="107000"/>
              </a:lnSpc>
              <a:spcAft>
                <a:spcPts val="800"/>
              </a:spcAft>
              <a:buAutoNum type="arabicPeriod" startAt="8"/>
            </a:pPr>
            <a:r>
              <a:rPr lang="en-IN" sz="2600" dirty="0">
                <a:effectLst/>
                <a:latin typeface="Times New Roman" panose="02020603050405020304" pitchFamily="18" charset="0"/>
              </a:rPr>
              <a:t>What is the reporting structure among employees? Use org chart or hierarchical tree to visualize.</a:t>
            </a:r>
          </a:p>
          <a:p>
            <a:pPr marL="457200" indent="-457200" algn="just">
              <a:lnSpc>
                <a:spcPct val="107000"/>
              </a:lnSpc>
              <a:spcAft>
                <a:spcPts val="800"/>
              </a:spcAft>
              <a:buAutoNum type="arabicPeriod" startAt="8"/>
            </a:pPr>
            <a:r>
              <a:rPr lang="en-IN" sz="2600" dirty="0">
                <a:effectLst/>
                <a:latin typeface="Times New Roman" panose="02020603050405020304" pitchFamily="18" charset="0"/>
              </a:rPr>
              <a:t>Which products have the highest sales volume? Use bar chart or tree map to visualize.</a:t>
            </a:r>
          </a:p>
          <a:p>
            <a:pPr marL="457200" indent="-457200" algn="just">
              <a:lnSpc>
                <a:spcPct val="107000"/>
              </a:lnSpc>
              <a:spcAft>
                <a:spcPts val="800"/>
              </a:spcAft>
              <a:buAutoNum type="arabicPeriod" startAt="8"/>
            </a:pPr>
            <a:r>
              <a:rPr lang="en-IN" sz="2600" dirty="0">
                <a:effectLst/>
                <a:latin typeface="Times New Roman" panose="02020603050405020304" pitchFamily="18" charset="0"/>
              </a:rPr>
              <a:t>How does the sales volume vary across different product categories? Use stacked bar chart or tree map to visualize.</a:t>
            </a:r>
          </a:p>
          <a:p>
            <a:pPr marL="457200" indent="-457200" algn="just">
              <a:lnSpc>
                <a:spcPct val="107000"/>
              </a:lnSpc>
              <a:spcAft>
                <a:spcPts val="800"/>
              </a:spcAft>
              <a:buAutoNum type="arabicPeriod" startAt="8"/>
            </a:pPr>
            <a:r>
              <a:rPr lang="en-IN" sz="2600" dirty="0">
                <a:effectLst/>
                <a:latin typeface="Times New Roman" panose="02020603050405020304" pitchFamily="18" charset="0"/>
              </a:rPr>
              <a:t>Can we visualize the pricing distribution of products? Use box plot or histogram to visualize.</a:t>
            </a:r>
          </a:p>
          <a:p>
            <a:pPr marL="457200" indent="-457200" algn="just">
              <a:lnSpc>
                <a:spcPct val="107000"/>
              </a:lnSpc>
              <a:spcAft>
                <a:spcPts val="800"/>
              </a:spcAft>
              <a:buAutoNum type="arabicPeriod" startAt="8"/>
            </a:pPr>
            <a:r>
              <a:rPr lang="en-IN" sz="2600" dirty="0">
                <a:effectLst/>
                <a:latin typeface="Times New Roman" panose="02020603050405020304" pitchFamily="18" charset="0"/>
              </a:rPr>
              <a:t>How many products are supplied by each supplier? Use bar chart or pie chart to visualize.</a:t>
            </a:r>
          </a:p>
          <a:p>
            <a:pPr marL="457200" indent="-457200" algn="just">
              <a:lnSpc>
                <a:spcPct val="107000"/>
              </a:lnSpc>
              <a:spcAft>
                <a:spcPts val="800"/>
              </a:spcAft>
              <a:buAutoNum type="arabicPeriod" startAt="8"/>
            </a:pPr>
            <a:r>
              <a:rPr lang="en-IN" sz="2600" dirty="0">
                <a:effectLst/>
                <a:latin typeface="Times New Roman" panose="02020603050405020304" pitchFamily="18" charset="0"/>
              </a:rPr>
              <a:t>How does product pricing vary across different suppliers? Use box plot or stacked column chart to visualize.</a:t>
            </a:r>
          </a:p>
          <a:p>
            <a:pPr marL="457200" indent="-457200" algn="just">
              <a:lnSpc>
                <a:spcPct val="107000"/>
              </a:lnSpc>
              <a:spcAft>
                <a:spcPts val="800"/>
              </a:spcAft>
              <a:buAutoNum type="arabicPeriod" startAt="8"/>
            </a:pPr>
            <a:r>
              <a:rPr lang="en-IN" sz="2600" dirty="0">
                <a:effectLst/>
                <a:latin typeface="Times New Roman" panose="02020603050405020304" pitchFamily="18" charset="0"/>
              </a:rPr>
              <a:t>What is the geographical distribution of suppliers? Use map chart or bubble map to visualize.</a:t>
            </a:r>
          </a:p>
          <a:p>
            <a:endParaRPr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717961" y="117732"/>
            <a:ext cx="7480570" cy="768485"/>
          </a:xfrm>
        </p:spPr>
        <p:txBody>
          <a:bodyPr>
            <a:normAutofit/>
          </a:bodyPr>
          <a:lstStyle/>
          <a:p>
            <a:r>
              <a:rPr lang="en-US" sz="2400" u="sng" dirty="0"/>
              <a:t>North Wind Traders Analysis Report</a:t>
            </a:r>
            <a:endParaRPr sz="2400" u="sng" dirty="0"/>
          </a:p>
        </p:txBody>
      </p:sp>
      <p:pic>
        <p:nvPicPr>
          <p:cNvPr id="5" name="Content Placeholder 4">
            <a:extLst>
              <a:ext uri="{FF2B5EF4-FFF2-40B4-BE49-F238E27FC236}">
                <a16:creationId xmlns:a16="http://schemas.microsoft.com/office/drawing/2014/main" id="{AF32C1A6-78AE-AB68-45F9-D7E27DF01ACA}"/>
              </a:ext>
            </a:extLst>
          </p:cNvPr>
          <p:cNvPicPr>
            <a:picLocks noGrp="1" noChangeAspect="1"/>
          </p:cNvPicPr>
          <p:nvPr>
            <p:ph idx="1"/>
          </p:nvPr>
        </p:nvPicPr>
        <p:blipFill>
          <a:blip r:embed="rId2"/>
          <a:stretch>
            <a:fillRect/>
          </a:stretch>
        </p:blipFill>
        <p:spPr>
          <a:xfrm>
            <a:off x="266700" y="1000517"/>
            <a:ext cx="10337800" cy="7766989"/>
          </a:xfr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B14AC5-3D5F-DA83-AA6B-2B6261151F3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0FD902-C5D4-5D96-B618-6547BDDF6D4F}"/>
              </a:ext>
            </a:extLst>
          </p:cNvPr>
          <p:cNvSpPr>
            <a:spLocks noGrp="1"/>
          </p:cNvSpPr>
          <p:nvPr>
            <p:ph type="title"/>
          </p:nvPr>
        </p:nvSpPr>
        <p:spPr>
          <a:xfrm>
            <a:off x="1701800" y="130022"/>
            <a:ext cx="7391400" cy="408561"/>
          </a:xfrm>
        </p:spPr>
        <p:txBody>
          <a:bodyPr>
            <a:noAutofit/>
          </a:bodyPr>
          <a:lstStyle/>
          <a:p>
            <a:r>
              <a:rPr lang="en-US" sz="2400" u="sng" dirty="0"/>
              <a:t>SALES </a:t>
            </a:r>
            <a:r>
              <a:rPr sz="2400" u="sng" dirty="0"/>
              <a:t>Analysis </a:t>
            </a:r>
          </a:p>
        </p:txBody>
      </p:sp>
      <p:pic>
        <p:nvPicPr>
          <p:cNvPr id="14" name="Picture 13">
            <a:extLst>
              <a:ext uri="{FF2B5EF4-FFF2-40B4-BE49-F238E27FC236}">
                <a16:creationId xmlns:a16="http://schemas.microsoft.com/office/drawing/2014/main" id="{55DDBC08-F029-2F2E-F244-6913E8C7AF81}"/>
              </a:ext>
            </a:extLst>
          </p:cNvPr>
          <p:cNvPicPr>
            <a:picLocks noChangeAspect="1"/>
          </p:cNvPicPr>
          <p:nvPr/>
        </p:nvPicPr>
        <p:blipFill>
          <a:blip r:embed="rId2"/>
          <a:stretch>
            <a:fillRect/>
          </a:stretch>
        </p:blipFill>
        <p:spPr>
          <a:xfrm>
            <a:off x="237105" y="668736"/>
            <a:ext cx="5069813" cy="3687662"/>
          </a:xfrm>
          <a:prstGeom prst="rect">
            <a:avLst/>
          </a:prstGeom>
        </p:spPr>
      </p:pic>
      <p:pic>
        <p:nvPicPr>
          <p:cNvPr id="16" name="Picture 15">
            <a:extLst>
              <a:ext uri="{FF2B5EF4-FFF2-40B4-BE49-F238E27FC236}">
                <a16:creationId xmlns:a16="http://schemas.microsoft.com/office/drawing/2014/main" id="{26FE020A-8836-B62E-4D0A-28A12EC515A9}"/>
              </a:ext>
            </a:extLst>
          </p:cNvPr>
          <p:cNvPicPr>
            <a:picLocks noChangeAspect="1"/>
          </p:cNvPicPr>
          <p:nvPr/>
        </p:nvPicPr>
        <p:blipFill>
          <a:blip r:embed="rId3"/>
          <a:stretch>
            <a:fillRect/>
          </a:stretch>
        </p:blipFill>
        <p:spPr>
          <a:xfrm>
            <a:off x="5492845" y="668736"/>
            <a:ext cx="5069812" cy="3687662"/>
          </a:xfrm>
          <a:prstGeom prst="rect">
            <a:avLst/>
          </a:prstGeom>
        </p:spPr>
      </p:pic>
      <p:pic>
        <p:nvPicPr>
          <p:cNvPr id="18" name="Picture 17">
            <a:extLst>
              <a:ext uri="{FF2B5EF4-FFF2-40B4-BE49-F238E27FC236}">
                <a16:creationId xmlns:a16="http://schemas.microsoft.com/office/drawing/2014/main" id="{4794003B-67BA-F18F-5010-4F9CB06C804E}"/>
              </a:ext>
            </a:extLst>
          </p:cNvPr>
          <p:cNvPicPr>
            <a:picLocks noChangeAspect="1"/>
          </p:cNvPicPr>
          <p:nvPr/>
        </p:nvPicPr>
        <p:blipFill>
          <a:blip r:embed="rId4"/>
          <a:stretch>
            <a:fillRect/>
          </a:stretch>
        </p:blipFill>
        <p:spPr>
          <a:xfrm>
            <a:off x="237105" y="4643140"/>
            <a:ext cx="5069813" cy="4113372"/>
          </a:xfrm>
          <a:prstGeom prst="rect">
            <a:avLst/>
          </a:prstGeom>
        </p:spPr>
      </p:pic>
      <p:pic>
        <p:nvPicPr>
          <p:cNvPr id="20" name="Picture 19">
            <a:extLst>
              <a:ext uri="{FF2B5EF4-FFF2-40B4-BE49-F238E27FC236}">
                <a16:creationId xmlns:a16="http://schemas.microsoft.com/office/drawing/2014/main" id="{F58FB40D-57E1-3502-6B5E-A01ACCA16387}"/>
              </a:ext>
            </a:extLst>
          </p:cNvPr>
          <p:cNvPicPr>
            <a:picLocks noChangeAspect="1"/>
          </p:cNvPicPr>
          <p:nvPr/>
        </p:nvPicPr>
        <p:blipFill>
          <a:blip r:embed="rId5"/>
          <a:stretch>
            <a:fillRect/>
          </a:stretch>
        </p:blipFill>
        <p:spPr>
          <a:xfrm>
            <a:off x="5492845" y="4643140"/>
            <a:ext cx="5069812" cy="4113372"/>
          </a:xfrm>
          <a:prstGeom prst="rect">
            <a:avLst/>
          </a:prstGeom>
        </p:spPr>
      </p:pic>
    </p:spTree>
    <p:extLst>
      <p:ext uri="{BB962C8B-B14F-4D97-AF65-F5344CB8AC3E}">
        <p14:creationId xmlns:p14="http://schemas.microsoft.com/office/powerpoint/2010/main" val="1297175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523999" y="199997"/>
            <a:ext cx="8089901" cy="599966"/>
          </a:xfrm>
        </p:spPr>
        <p:txBody>
          <a:bodyPr/>
          <a:lstStyle/>
          <a:p>
            <a:r>
              <a:rPr u="sng" dirty="0"/>
              <a:t>Sales Analysis </a:t>
            </a:r>
          </a:p>
        </p:txBody>
      </p:sp>
      <p:sp>
        <p:nvSpPr>
          <p:cNvPr id="3" name="Content Placeholder 2"/>
          <p:cNvSpPr>
            <a:spLocks noGrp="1"/>
          </p:cNvSpPr>
          <p:nvPr>
            <p:ph idx="1"/>
          </p:nvPr>
        </p:nvSpPr>
        <p:spPr>
          <a:xfrm>
            <a:off x="809447" y="1473063"/>
            <a:ext cx="9171439" cy="6799647"/>
          </a:xfrm>
        </p:spPr>
        <p:txBody>
          <a:bodyPr/>
          <a:lstStyle/>
          <a:p>
            <a:r>
              <a:rPr lang="en-US" sz="2800" b="1" u="sng" dirty="0"/>
              <a:t>Key Insights:</a:t>
            </a:r>
            <a:endParaRPr lang="en-US" sz="2800" u="sng" dirty="0"/>
          </a:p>
          <a:p>
            <a:pPr lvl="1" algn="just"/>
            <a:r>
              <a:rPr lang="en-US" sz="2400" dirty="0"/>
              <a:t>Clear upward trend in order volumes from 1996 to 1998 with seasonal peaks during mid-year and year-end periods</a:t>
            </a:r>
          </a:p>
          <a:p>
            <a:pPr lvl="1" algn="just"/>
            <a:r>
              <a:rPr lang="en-US" sz="2400" dirty="0"/>
              <a:t>Majority of orders fall in $0-$500 range with right-skewed distribution; average order value around $600-$800</a:t>
            </a:r>
          </a:p>
          <a:p>
            <a:pPr lvl="1" algn="just"/>
            <a:r>
              <a:rPr lang="en-US" sz="2400" dirty="0"/>
              <a:t>Most shipments complete within 5-10 days; Federal Shipping fastest, international orders show higher variance</a:t>
            </a:r>
          </a:p>
          <a:p>
            <a:pPr lvl="1" algn="just"/>
            <a:r>
              <a:rPr lang="en-US" sz="2400" dirty="0"/>
              <a:t>Notable Q1 dips suggest slower post-holiday demand with consistent month-over-month cyclical fluctuations</a:t>
            </a:r>
          </a:p>
          <a:p>
            <a:pPr lvl="1" algn="just"/>
            <a:r>
              <a:rPr lang="en-US" sz="2400" dirty="0"/>
              <a:t>Long tail of high-value orders (above $2,000) indicates presence of premium bulk customers</a:t>
            </a:r>
          </a:p>
          <a:p>
            <a:pPr lvl="1" algn="just"/>
            <a:r>
              <a:rPr lang="en-US" sz="2400" dirty="0"/>
              <a:t>Significant opportunity to optimize slower shipping routes and methods</a:t>
            </a:r>
          </a:p>
          <a:p>
            <a:endParaRPr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01E202-CB6A-A6AE-DFF2-9052E93B4F4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F4FBDA-D6F6-FE0B-0B1B-C5334D36D225}"/>
              </a:ext>
            </a:extLst>
          </p:cNvPr>
          <p:cNvSpPr>
            <a:spLocks noGrp="1"/>
          </p:cNvSpPr>
          <p:nvPr>
            <p:ph type="title"/>
          </p:nvPr>
        </p:nvSpPr>
        <p:spPr>
          <a:xfrm>
            <a:off x="1290119" y="95944"/>
            <a:ext cx="8560727" cy="501756"/>
          </a:xfrm>
        </p:spPr>
        <p:txBody>
          <a:bodyPr>
            <a:normAutofit fontScale="90000"/>
          </a:bodyPr>
          <a:lstStyle/>
          <a:p>
            <a:r>
              <a:rPr u="sng" dirty="0"/>
              <a:t>Product &amp; Inventory Analysis</a:t>
            </a:r>
          </a:p>
        </p:txBody>
      </p:sp>
      <p:pic>
        <p:nvPicPr>
          <p:cNvPr id="5" name="Picture 4">
            <a:extLst>
              <a:ext uri="{FF2B5EF4-FFF2-40B4-BE49-F238E27FC236}">
                <a16:creationId xmlns:a16="http://schemas.microsoft.com/office/drawing/2014/main" id="{A7CC06DD-B58C-CE3C-6AA8-779F02232E0A}"/>
              </a:ext>
            </a:extLst>
          </p:cNvPr>
          <p:cNvPicPr>
            <a:picLocks noChangeAspect="1"/>
          </p:cNvPicPr>
          <p:nvPr/>
        </p:nvPicPr>
        <p:blipFill>
          <a:blip r:embed="rId2"/>
          <a:stretch>
            <a:fillRect/>
          </a:stretch>
        </p:blipFill>
        <p:spPr>
          <a:xfrm>
            <a:off x="261257" y="799639"/>
            <a:ext cx="5617029" cy="3468319"/>
          </a:xfrm>
          <a:prstGeom prst="rect">
            <a:avLst/>
          </a:prstGeom>
        </p:spPr>
      </p:pic>
      <p:pic>
        <p:nvPicPr>
          <p:cNvPr id="7" name="Picture 6">
            <a:extLst>
              <a:ext uri="{FF2B5EF4-FFF2-40B4-BE49-F238E27FC236}">
                <a16:creationId xmlns:a16="http://schemas.microsoft.com/office/drawing/2014/main" id="{3E30D35A-9698-09E4-9287-367A308D7B35}"/>
              </a:ext>
            </a:extLst>
          </p:cNvPr>
          <p:cNvPicPr>
            <a:picLocks noChangeAspect="1"/>
          </p:cNvPicPr>
          <p:nvPr/>
        </p:nvPicPr>
        <p:blipFill>
          <a:blip r:embed="rId3"/>
          <a:stretch>
            <a:fillRect/>
          </a:stretch>
        </p:blipFill>
        <p:spPr>
          <a:xfrm>
            <a:off x="261257" y="4499769"/>
            <a:ext cx="5617029" cy="4226220"/>
          </a:xfrm>
          <a:prstGeom prst="rect">
            <a:avLst/>
          </a:prstGeom>
        </p:spPr>
      </p:pic>
      <p:pic>
        <p:nvPicPr>
          <p:cNvPr id="11" name="Picture 10">
            <a:extLst>
              <a:ext uri="{FF2B5EF4-FFF2-40B4-BE49-F238E27FC236}">
                <a16:creationId xmlns:a16="http://schemas.microsoft.com/office/drawing/2014/main" id="{F8075B52-10AB-2550-E6D4-18C9C0C8F95A}"/>
              </a:ext>
            </a:extLst>
          </p:cNvPr>
          <p:cNvPicPr>
            <a:picLocks noChangeAspect="1"/>
          </p:cNvPicPr>
          <p:nvPr/>
        </p:nvPicPr>
        <p:blipFill>
          <a:blip r:embed="rId4"/>
          <a:stretch>
            <a:fillRect/>
          </a:stretch>
        </p:blipFill>
        <p:spPr>
          <a:xfrm>
            <a:off x="6073792" y="799639"/>
            <a:ext cx="4464714" cy="7926350"/>
          </a:xfrm>
          <a:prstGeom prst="rect">
            <a:avLst/>
          </a:prstGeom>
        </p:spPr>
      </p:pic>
    </p:spTree>
    <p:extLst>
      <p:ext uri="{BB962C8B-B14F-4D97-AF65-F5344CB8AC3E}">
        <p14:creationId xmlns:p14="http://schemas.microsoft.com/office/powerpoint/2010/main" val="25935244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05127200-88DF-5E16-D39F-1B37BAAEE1EC}"/>
              </a:ext>
            </a:extLst>
          </p:cNvPr>
          <p:cNvPicPr>
            <a:picLocks noChangeAspect="1"/>
          </p:cNvPicPr>
          <p:nvPr/>
        </p:nvPicPr>
        <p:blipFill>
          <a:blip r:embed="rId2"/>
          <a:stretch>
            <a:fillRect/>
          </a:stretch>
        </p:blipFill>
        <p:spPr>
          <a:xfrm>
            <a:off x="300446" y="287383"/>
            <a:ext cx="10058400" cy="8543108"/>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17600" y="114300"/>
            <a:ext cx="8863285" cy="1070217"/>
          </a:xfrm>
        </p:spPr>
        <p:txBody>
          <a:bodyPr>
            <a:normAutofit/>
          </a:bodyPr>
          <a:lstStyle/>
          <a:p>
            <a:r>
              <a:rPr lang="en-US" u="sng" dirty="0"/>
              <a:t>PRODUCT &amp; INVENTORY ANALYSIS</a:t>
            </a:r>
            <a:endParaRPr u="sng" dirty="0"/>
          </a:p>
        </p:txBody>
      </p:sp>
      <p:sp>
        <p:nvSpPr>
          <p:cNvPr id="3" name="Content Placeholder 2"/>
          <p:cNvSpPr>
            <a:spLocks noGrp="1"/>
          </p:cNvSpPr>
          <p:nvPr>
            <p:ph idx="1"/>
          </p:nvPr>
        </p:nvSpPr>
        <p:spPr>
          <a:xfrm>
            <a:off x="809446" y="1184517"/>
            <a:ext cx="9171439" cy="7464183"/>
          </a:xfrm>
        </p:spPr>
        <p:txBody>
          <a:bodyPr>
            <a:normAutofit/>
          </a:bodyPr>
          <a:lstStyle/>
          <a:p>
            <a:r>
              <a:rPr lang="en-US" sz="3000" b="1" u="sng" dirty="0"/>
              <a:t>Key Insights:</a:t>
            </a:r>
            <a:endParaRPr lang="en-US" sz="3000" u="sng" dirty="0"/>
          </a:p>
          <a:p>
            <a:pPr lvl="1" algn="just"/>
            <a:r>
              <a:rPr lang="en-US" sz="2400" dirty="0"/>
              <a:t>Top 10 products contribute 30-35% of total sales; Côte de </a:t>
            </a:r>
            <a:r>
              <a:rPr lang="en-US" sz="2400" dirty="0" err="1"/>
              <a:t>Blaye</a:t>
            </a:r>
            <a:r>
              <a:rPr lang="en-US" sz="2400" dirty="0"/>
              <a:t> and </a:t>
            </a:r>
            <a:r>
              <a:rPr lang="en-US" sz="2400" dirty="0" err="1"/>
              <a:t>Thüringer</a:t>
            </a:r>
            <a:r>
              <a:rPr lang="en-US" sz="2400" dirty="0"/>
              <a:t> </a:t>
            </a:r>
            <a:r>
              <a:rPr lang="en-US" sz="2400" dirty="0" err="1"/>
              <a:t>Rostbratwurst</a:t>
            </a:r>
            <a:r>
              <a:rPr lang="en-US" sz="2400" dirty="0"/>
              <a:t> lead in revenue</a:t>
            </a:r>
          </a:p>
          <a:p>
            <a:pPr lvl="1" algn="just"/>
            <a:r>
              <a:rPr lang="en-US" sz="2400" dirty="0"/>
              <a:t>Beverages and Dairy Products are leading categories accounting for over 50% combined with top 3 categories</a:t>
            </a:r>
          </a:p>
          <a:p>
            <a:pPr lvl="1" algn="just"/>
            <a:r>
              <a:rPr lang="en-US" sz="2400" dirty="0"/>
              <a:t>Median product price ranges $15-$25 with significant outliers above $100 for premium specialty items</a:t>
            </a:r>
          </a:p>
          <a:p>
            <a:pPr lvl="1" algn="just"/>
            <a:r>
              <a:rPr lang="en-US" sz="2400" dirty="0"/>
              <a:t>Confections and Seafood show strong performance while Grains/Cereals and Produce lag significantly</a:t>
            </a:r>
          </a:p>
          <a:p>
            <a:pPr lvl="1" algn="just"/>
            <a:r>
              <a:rPr lang="en-US" sz="2400" dirty="0"/>
              <a:t>Beverages show widest pricing variance; most categories cluster in $10-$40 range</a:t>
            </a:r>
          </a:p>
          <a:p>
            <a:pPr lvl="1" algn="just"/>
            <a:r>
              <a:rPr lang="en-US" sz="2400" dirty="0"/>
              <a:t>Clear price differentiation strategy visible across portfolio with significant drop-off after top 5 products</a:t>
            </a:r>
          </a:p>
          <a:p>
            <a:endParaRPr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95601" y="95938"/>
            <a:ext cx="5720362" cy="473231"/>
          </a:xfrm>
        </p:spPr>
        <p:txBody>
          <a:bodyPr>
            <a:noAutofit/>
          </a:bodyPr>
          <a:lstStyle/>
          <a:p>
            <a:r>
              <a:rPr sz="2800" u="sng" dirty="0"/>
              <a:t>Employee Analysis</a:t>
            </a:r>
          </a:p>
        </p:txBody>
      </p:sp>
      <p:pic>
        <p:nvPicPr>
          <p:cNvPr id="7" name="Picture 6">
            <a:extLst>
              <a:ext uri="{FF2B5EF4-FFF2-40B4-BE49-F238E27FC236}">
                <a16:creationId xmlns:a16="http://schemas.microsoft.com/office/drawing/2014/main" id="{1B622993-2A87-18FF-3F42-C1462089D193}"/>
              </a:ext>
            </a:extLst>
          </p:cNvPr>
          <p:cNvPicPr>
            <a:picLocks noChangeAspect="1"/>
          </p:cNvPicPr>
          <p:nvPr/>
        </p:nvPicPr>
        <p:blipFill>
          <a:blip r:embed="rId2"/>
          <a:stretch>
            <a:fillRect/>
          </a:stretch>
        </p:blipFill>
        <p:spPr>
          <a:xfrm>
            <a:off x="248194" y="569168"/>
            <a:ext cx="5151687" cy="3751951"/>
          </a:xfrm>
          <a:prstGeom prst="rect">
            <a:avLst/>
          </a:prstGeom>
        </p:spPr>
      </p:pic>
      <p:pic>
        <p:nvPicPr>
          <p:cNvPr id="9" name="Picture 8">
            <a:extLst>
              <a:ext uri="{FF2B5EF4-FFF2-40B4-BE49-F238E27FC236}">
                <a16:creationId xmlns:a16="http://schemas.microsoft.com/office/drawing/2014/main" id="{E55E03A0-ED81-C496-4A60-F6101C7A6C28}"/>
              </a:ext>
            </a:extLst>
          </p:cNvPr>
          <p:cNvPicPr>
            <a:picLocks noChangeAspect="1"/>
          </p:cNvPicPr>
          <p:nvPr/>
        </p:nvPicPr>
        <p:blipFill>
          <a:blip r:embed="rId3"/>
          <a:stretch>
            <a:fillRect/>
          </a:stretch>
        </p:blipFill>
        <p:spPr>
          <a:xfrm>
            <a:off x="5537624" y="569169"/>
            <a:ext cx="5151687" cy="3751950"/>
          </a:xfrm>
          <a:prstGeom prst="rect">
            <a:avLst/>
          </a:prstGeom>
        </p:spPr>
      </p:pic>
      <p:pic>
        <p:nvPicPr>
          <p:cNvPr id="11" name="Picture 10">
            <a:extLst>
              <a:ext uri="{FF2B5EF4-FFF2-40B4-BE49-F238E27FC236}">
                <a16:creationId xmlns:a16="http://schemas.microsoft.com/office/drawing/2014/main" id="{AFEF8265-4EFD-933A-7A85-243737D35FA2}"/>
              </a:ext>
            </a:extLst>
          </p:cNvPr>
          <p:cNvPicPr>
            <a:picLocks noChangeAspect="1"/>
          </p:cNvPicPr>
          <p:nvPr/>
        </p:nvPicPr>
        <p:blipFill>
          <a:blip r:embed="rId4"/>
          <a:stretch>
            <a:fillRect/>
          </a:stretch>
        </p:blipFill>
        <p:spPr>
          <a:xfrm>
            <a:off x="248194" y="4499770"/>
            <a:ext cx="5151687" cy="4291533"/>
          </a:xfrm>
          <a:prstGeom prst="rect">
            <a:avLst/>
          </a:prstGeom>
        </p:spPr>
      </p:pic>
      <p:pic>
        <p:nvPicPr>
          <p:cNvPr id="13" name="Picture 12">
            <a:extLst>
              <a:ext uri="{FF2B5EF4-FFF2-40B4-BE49-F238E27FC236}">
                <a16:creationId xmlns:a16="http://schemas.microsoft.com/office/drawing/2014/main" id="{AEEC37B0-66DF-7E1D-7389-2603C5FF4F7D}"/>
              </a:ext>
            </a:extLst>
          </p:cNvPr>
          <p:cNvPicPr>
            <a:picLocks noChangeAspect="1"/>
          </p:cNvPicPr>
          <p:nvPr/>
        </p:nvPicPr>
        <p:blipFill>
          <a:blip r:embed="rId5"/>
          <a:stretch>
            <a:fillRect/>
          </a:stretch>
        </p:blipFill>
        <p:spPr>
          <a:xfrm>
            <a:off x="5537624" y="4499770"/>
            <a:ext cx="5151687" cy="429153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18CC8A-B9A1-647E-9A32-1B7D039765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AB2CA8-89D5-B6B0-AB0C-9F50CCEE2693}"/>
              </a:ext>
            </a:extLst>
          </p:cNvPr>
          <p:cNvSpPr>
            <a:spLocks noGrp="1"/>
          </p:cNvSpPr>
          <p:nvPr>
            <p:ph type="title"/>
          </p:nvPr>
        </p:nvSpPr>
        <p:spPr>
          <a:xfrm>
            <a:off x="2552700" y="300626"/>
            <a:ext cx="5308599" cy="532762"/>
          </a:xfrm>
        </p:spPr>
        <p:txBody>
          <a:bodyPr>
            <a:noAutofit/>
          </a:bodyPr>
          <a:lstStyle/>
          <a:p>
            <a:r>
              <a:rPr lang="en-US" u="sng" dirty="0"/>
              <a:t>EMPLOYEE ANALYSIS</a:t>
            </a:r>
            <a:endParaRPr u="sng" dirty="0"/>
          </a:p>
        </p:txBody>
      </p:sp>
      <p:sp>
        <p:nvSpPr>
          <p:cNvPr id="5" name="Content Placeholder 4">
            <a:extLst>
              <a:ext uri="{FF2B5EF4-FFF2-40B4-BE49-F238E27FC236}">
                <a16:creationId xmlns:a16="http://schemas.microsoft.com/office/drawing/2014/main" id="{BEA85F95-DA49-F6D6-40C5-CFF9EEADB4A5}"/>
              </a:ext>
            </a:extLst>
          </p:cNvPr>
          <p:cNvSpPr>
            <a:spLocks noGrp="1"/>
          </p:cNvSpPr>
          <p:nvPr>
            <p:ph idx="1"/>
          </p:nvPr>
        </p:nvSpPr>
        <p:spPr>
          <a:xfrm>
            <a:off x="317500" y="1175618"/>
            <a:ext cx="10096500" cy="7142882"/>
          </a:xfrm>
        </p:spPr>
        <p:txBody>
          <a:bodyPr/>
          <a:lstStyle/>
          <a:p>
            <a:r>
              <a:rPr lang="en-US" sz="2800" b="1" u="sng" dirty="0"/>
              <a:t>Key Insights:</a:t>
            </a:r>
            <a:endParaRPr lang="en-US" sz="2800" u="sng" dirty="0"/>
          </a:p>
          <a:p>
            <a:pPr algn="just">
              <a:buFont typeface="Arial" panose="020B0604020202020204" pitchFamily="34" charset="0"/>
              <a:buChar char="•"/>
            </a:pPr>
            <a:r>
              <a:rPr lang="en-US" sz="2400" dirty="0"/>
              <a:t>Sales Representatives form largest employee group in sales-focused organizational structure</a:t>
            </a:r>
          </a:p>
          <a:p>
            <a:pPr algn="just">
              <a:buFont typeface="Arial" panose="020B0604020202020204" pitchFamily="34" charset="0"/>
              <a:buChar char="•"/>
            </a:pPr>
            <a:r>
              <a:rPr lang="en-US" sz="2400" dirty="0"/>
              <a:t>Most employees have 2-5 years tenure indicating low turnover and stable workforce</a:t>
            </a:r>
          </a:p>
          <a:p>
            <a:pPr algn="just">
              <a:buFont typeface="Arial" panose="020B0604020202020204" pitchFamily="34" charset="0"/>
              <a:buChar char="•"/>
            </a:pPr>
            <a:r>
              <a:rPr lang="en-US" sz="2400" dirty="0"/>
              <a:t>2-3 tier organizational hierarchy with average span of control of 4-6 direct reports</a:t>
            </a:r>
          </a:p>
          <a:p>
            <a:pPr algn="just">
              <a:buFont typeface="Arial" panose="020B0604020202020204" pitchFamily="34" charset="0"/>
              <a:buChar char="•"/>
            </a:pPr>
            <a:r>
              <a:rPr lang="en-US" sz="2400" dirty="0"/>
              <a:t>Recent hiring wave visible in 0-2 year tenure range with limited long-tenured employees (8+ years)</a:t>
            </a:r>
          </a:p>
          <a:p>
            <a:pPr algn="just">
              <a:buFont typeface="Arial" panose="020B0604020202020204" pitchFamily="34" charset="0"/>
              <a:buChar char="•"/>
            </a:pPr>
            <a:r>
              <a:rPr lang="en-US" sz="2400" dirty="0"/>
              <a:t>Relatively flat organization structure with minimal management layers ensuring efficient communication</a:t>
            </a:r>
          </a:p>
          <a:p>
            <a:pPr algn="just">
              <a:buFont typeface="Arial" panose="020B0604020202020204" pitchFamily="34" charset="0"/>
              <a:buChar char="•"/>
            </a:pPr>
            <a:r>
              <a:rPr lang="en-US" sz="2400" dirty="0"/>
              <a:t>Sales team organized through regional structure with centralized reporting to few senior managers</a:t>
            </a:r>
          </a:p>
          <a:p>
            <a:endParaRPr lang="en-IN" dirty="0"/>
          </a:p>
        </p:txBody>
      </p:sp>
    </p:spTree>
    <p:extLst>
      <p:ext uri="{BB962C8B-B14F-4D97-AF65-F5344CB8AC3E}">
        <p14:creationId xmlns:p14="http://schemas.microsoft.com/office/powerpoint/2010/main" val="237458728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1E8254-8FE6-D5FD-8FB1-7CBCE4A2A1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454D10-3340-C910-6EFE-8A339D86CFEC}"/>
              </a:ext>
            </a:extLst>
          </p:cNvPr>
          <p:cNvSpPr>
            <a:spLocks noGrp="1"/>
          </p:cNvSpPr>
          <p:nvPr>
            <p:ph type="title"/>
          </p:nvPr>
        </p:nvSpPr>
        <p:spPr>
          <a:xfrm>
            <a:off x="3124034" y="60854"/>
            <a:ext cx="4614531" cy="554919"/>
          </a:xfrm>
        </p:spPr>
        <p:txBody>
          <a:bodyPr>
            <a:normAutofit fontScale="90000"/>
          </a:bodyPr>
          <a:lstStyle/>
          <a:p>
            <a:r>
              <a:rPr u="sng" dirty="0"/>
              <a:t>Supplier Analysis</a:t>
            </a:r>
          </a:p>
        </p:txBody>
      </p:sp>
      <p:pic>
        <p:nvPicPr>
          <p:cNvPr id="5" name="Picture 4">
            <a:extLst>
              <a:ext uri="{FF2B5EF4-FFF2-40B4-BE49-F238E27FC236}">
                <a16:creationId xmlns:a16="http://schemas.microsoft.com/office/drawing/2014/main" id="{EFB29EE2-6D27-D882-5BDF-C20739925478}"/>
              </a:ext>
            </a:extLst>
          </p:cNvPr>
          <p:cNvPicPr>
            <a:picLocks noChangeAspect="1"/>
          </p:cNvPicPr>
          <p:nvPr/>
        </p:nvPicPr>
        <p:blipFill>
          <a:blip r:embed="rId2"/>
          <a:stretch>
            <a:fillRect/>
          </a:stretch>
        </p:blipFill>
        <p:spPr>
          <a:xfrm>
            <a:off x="242611" y="615773"/>
            <a:ext cx="5348292" cy="3883996"/>
          </a:xfrm>
          <a:prstGeom prst="rect">
            <a:avLst/>
          </a:prstGeom>
        </p:spPr>
      </p:pic>
      <p:pic>
        <p:nvPicPr>
          <p:cNvPr id="7" name="Picture 6">
            <a:extLst>
              <a:ext uri="{FF2B5EF4-FFF2-40B4-BE49-F238E27FC236}">
                <a16:creationId xmlns:a16="http://schemas.microsoft.com/office/drawing/2014/main" id="{A1EE1BC5-FC17-B58B-46F8-E94DF0EC455E}"/>
              </a:ext>
            </a:extLst>
          </p:cNvPr>
          <p:cNvPicPr>
            <a:picLocks noChangeAspect="1"/>
          </p:cNvPicPr>
          <p:nvPr/>
        </p:nvPicPr>
        <p:blipFill>
          <a:blip r:embed="rId3"/>
          <a:stretch>
            <a:fillRect/>
          </a:stretch>
        </p:blipFill>
        <p:spPr>
          <a:xfrm>
            <a:off x="5718378" y="606496"/>
            <a:ext cx="4901610" cy="3883996"/>
          </a:xfrm>
          <a:prstGeom prst="rect">
            <a:avLst/>
          </a:prstGeom>
        </p:spPr>
      </p:pic>
      <p:pic>
        <p:nvPicPr>
          <p:cNvPr id="9" name="Picture 8">
            <a:extLst>
              <a:ext uri="{FF2B5EF4-FFF2-40B4-BE49-F238E27FC236}">
                <a16:creationId xmlns:a16="http://schemas.microsoft.com/office/drawing/2014/main" id="{5B3E0757-8E6F-597E-9C3B-A016C49A1B62}"/>
              </a:ext>
            </a:extLst>
          </p:cNvPr>
          <p:cNvPicPr>
            <a:picLocks noChangeAspect="1"/>
          </p:cNvPicPr>
          <p:nvPr/>
        </p:nvPicPr>
        <p:blipFill>
          <a:blip r:embed="rId4"/>
          <a:stretch>
            <a:fillRect/>
          </a:stretch>
        </p:blipFill>
        <p:spPr>
          <a:xfrm>
            <a:off x="242611" y="4670162"/>
            <a:ext cx="5348292" cy="4134204"/>
          </a:xfrm>
          <a:prstGeom prst="rect">
            <a:avLst/>
          </a:prstGeom>
        </p:spPr>
      </p:pic>
      <p:pic>
        <p:nvPicPr>
          <p:cNvPr id="11" name="Picture 10">
            <a:extLst>
              <a:ext uri="{FF2B5EF4-FFF2-40B4-BE49-F238E27FC236}">
                <a16:creationId xmlns:a16="http://schemas.microsoft.com/office/drawing/2014/main" id="{3DF7E568-7E16-C226-C417-7B70B55BBD6F}"/>
              </a:ext>
            </a:extLst>
          </p:cNvPr>
          <p:cNvPicPr>
            <a:picLocks noChangeAspect="1"/>
          </p:cNvPicPr>
          <p:nvPr/>
        </p:nvPicPr>
        <p:blipFill>
          <a:blip r:embed="rId5"/>
          <a:stretch>
            <a:fillRect/>
          </a:stretch>
        </p:blipFill>
        <p:spPr>
          <a:xfrm>
            <a:off x="5718378" y="4670162"/>
            <a:ext cx="4901610" cy="4134204"/>
          </a:xfrm>
          <a:prstGeom prst="rect">
            <a:avLst/>
          </a:prstGeom>
        </p:spPr>
      </p:pic>
    </p:spTree>
    <p:extLst>
      <p:ext uri="{BB962C8B-B14F-4D97-AF65-F5344CB8AC3E}">
        <p14:creationId xmlns:p14="http://schemas.microsoft.com/office/powerpoint/2010/main" val="296865102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42A98-D6B8-D115-EF35-6CC0591E84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301BCD-1454-83B2-E05E-D272A1E1B7B6}"/>
              </a:ext>
            </a:extLst>
          </p:cNvPr>
          <p:cNvSpPr>
            <a:spLocks noGrp="1"/>
          </p:cNvSpPr>
          <p:nvPr>
            <p:ph type="title"/>
          </p:nvPr>
        </p:nvSpPr>
        <p:spPr>
          <a:xfrm>
            <a:off x="3009900" y="275226"/>
            <a:ext cx="4368799" cy="532762"/>
          </a:xfrm>
        </p:spPr>
        <p:txBody>
          <a:bodyPr>
            <a:noAutofit/>
          </a:bodyPr>
          <a:lstStyle/>
          <a:p>
            <a:r>
              <a:rPr lang="en-US" u="sng" dirty="0"/>
              <a:t>SUPPLY ANALYSIS</a:t>
            </a:r>
            <a:endParaRPr u="sng" dirty="0"/>
          </a:p>
        </p:txBody>
      </p:sp>
      <p:sp>
        <p:nvSpPr>
          <p:cNvPr id="5" name="Content Placeholder 4">
            <a:extLst>
              <a:ext uri="{FF2B5EF4-FFF2-40B4-BE49-F238E27FC236}">
                <a16:creationId xmlns:a16="http://schemas.microsoft.com/office/drawing/2014/main" id="{0D46F76B-A884-6940-011C-BB95782DF49C}"/>
              </a:ext>
            </a:extLst>
          </p:cNvPr>
          <p:cNvSpPr>
            <a:spLocks noGrp="1"/>
          </p:cNvSpPr>
          <p:nvPr>
            <p:ph idx="1"/>
          </p:nvPr>
        </p:nvSpPr>
        <p:spPr>
          <a:xfrm>
            <a:off x="419100" y="1074018"/>
            <a:ext cx="9867900" cy="7473082"/>
          </a:xfrm>
        </p:spPr>
        <p:txBody>
          <a:bodyPr/>
          <a:lstStyle/>
          <a:p>
            <a:r>
              <a:rPr lang="en-US" sz="2800" b="1" u="sng" dirty="0"/>
              <a:t>Key Insights:</a:t>
            </a:r>
          </a:p>
          <a:p>
            <a:pPr lvl="1" algn="just"/>
            <a:r>
              <a:rPr lang="en-US" sz="2400" dirty="0"/>
              <a:t>Top 10 suppliers account for 50%+ of product portfolio; top suppliers provide 8-15 products each</a:t>
            </a:r>
          </a:p>
          <a:p>
            <a:pPr lvl="1" algn="just"/>
            <a:r>
              <a:rPr lang="en-US" sz="2400" dirty="0"/>
              <a:t>European suppliers dominate (60-70%); USA, UK, and Germany are primary supplier countries</a:t>
            </a:r>
          </a:p>
          <a:p>
            <a:pPr lvl="1" algn="just"/>
            <a:r>
              <a:rPr lang="en-US" sz="2400" dirty="0"/>
              <a:t>Seafood and Dairy show highest price variance among suppliers; Confections pricing relatively consistent</a:t>
            </a:r>
          </a:p>
          <a:p>
            <a:pPr lvl="1" algn="just"/>
            <a:r>
              <a:rPr lang="en-US" sz="2400" dirty="0"/>
              <a:t>Long tail of suppliers with only 1-2 products indicates consolidation opportunity</a:t>
            </a:r>
          </a:p>
          <a:p>
            <a:pPr lvl="1" algn="just"/>
            <a:r>
              <a:rPr lang="en-US" sz="2400" dirty="0"/>
              <a:t>Limited Asian supplier presence; Australia/New Zealand serve niche specialty items</a:t>
            </a:r>
          </a:p>
          <a:p>
            <a:pPr lvl="1" algn="just"/>
            <a:r>
              <a:rPr lang="en-US" sz="2400" dirty="0"/>
              <a:t>Geographic concentration in Europe creates supply chain vulnerability and significant negotiation opportunities exist</a:t>
            </a:r>
          </a:p>
          <a:p>
            <a:endParaRPr lang="en-IN" dirty="0"/>
          </a:p>
        </p:txBody>
      </p:sp>
    </p:spTree>
    <p:extLst>
      <p:ext uri="{BB962C8B-B14F-4D97-AF65-F5344CB8AC3E}">
        <p14:creationId xmlns:p14="http://schemas.microsoft.com/office/powerpoint/2010/main" val="281749527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10375" y="109138"/>
            <a:ext cx="5518298" cy="714407"/>
          </a:xfrm>
        </p:spPr>
        <p:txBody>
          <a:bodyPr/>
          <a:lstStyle/>
          <a:p>
            <a:r>
              <a:rPr lang="en-US" u="sng" dirty="0"/>
              <a:t>Customer</a:t>
            </a:r>
            <a:r>
              <a:rPr u="sng" dirty="0"/>
              <a:t> Analysis</a:t>
            </a:r>
          </a:p>
        </p:txBody>
      </p:sp>
      <p:pic>
        <p:nvPicPr>
          <p:cNvPr id="7" name="Picture 6">
            <a:extLst>
              <a:ext uri="{FF2B5EF4-FFF2-40B4-BE49-F238E27FC236}">
                <a16:creationId xmlns:a16="http://schemas.microsoft.com/office/drawing/2014/main" id="{B0DE9DA5-4D67-FCF9-C7F9-07676C0BB96B}"/>
              </a:ext>
            </a:extLst>
          </p:cNvPr>
          <p:cNvPicPr>
            <a:picLocks noChangeAspect="1"/>
          </p:cNvPicPr>
          <p:nvPr/>
        </p:nvPicPr>
        <p:blipFill>
          <a:blip r:embed="rId2"/>
          <a:stretch>
            <a:fillRect/>
          </a:stretch>
        </p:blipFill>
        <p:spPr>
          <a:xfrm>
            <a:off x="188472" y="823545"/>
            <a:ext cx="5381052" cy="3928564"/>
          </a:xfrm>
          <a:prstGeom prst="rect">
            <a:avLst/>
          </a:prstGeom>
        </p:spPr>
      </p:pic>
      <p:pic>
        <p:nvPicPr>
          <p:cNvPr id="9" name="Picture 8">
            <a:extLst>
              <a:ext uri="{FF2B5EF4-FFF2-40B4-BE49-F238E27FC236}">
                <a16:creationId xmlns:a16="http://schemas.microsoft.com/office/drawing/2014/main" id="{F327F725-A860-8337-2089-F838CC2FF2A3}"/>
              </a:ext>
            </a:extLst>
          </p:cNvPr>
          <p:cNvPicPr>
            <a:picLocks noChangeAspect="1"/>
          </p:cNvPicPr>
          <p:nvPr/>
        </p:nvPicPr>
        <p:blipFill>
          <a:blip r:embed="rId3"/>
          <a:stretch>
            <a:fillRect/>
          </a:stretch>
        </p:blipFill>
        <p:spPr>
          <a:xfrm>
            <a:off x="5644802" y="814573"/>
            <a:ext cx="4966489" cy="3928564"/>
          </a:xfrm>
          <a:prstGeom prst="rect">
            <a:avLst/>
          </a:prstGeom>
        </p:spPr>
      </p:pic>
      <p:pic>
        <p:nvPicPr>
          <p:cNvPr id="11" name="Picture 10">
            <a:extLst>
              <a:ext uri="{FF2B5EF4-FFF2-40B4-BE49-F238E27FC236}">
                <a16:creationId xmlns:a16="http://schemas.microsoft.com/office/drawing/2014/main" id="{7840E2AC-54B7-24C6-3BFA-7853F98C038D}"/>
              </a:ext>
            </a:extLst>
          </p:cNvPr>
          <p:cNvPicPr>
            <a:picLocks noChangeAspect="1"/>
          </p:cNvPicPr>
          <p:nvPr/>
        </p:nvPicPr>
        <p:blipFill>
          <a:blip r:embed="rId4"/>
          <a:stretch>
            <a:fillRect/>
          </a:stretch>
        </p:blipFill>
        <p:spPr>
          <a:xfrm>
            <a:off x="202590" y="4849091"/>
            <a:ext cx="5366933" cy="4031673"/>
          </a:xfrm>
          <a:prstGeom prst="rect">
            <a:avLst/>
          </a:prstGeom>
        </p:spPr>
      </p:pic>
      <p:pic>
        <p:nvPicPr>
          <p:cNvPr id="13" name="Picture 12">
            <a:extLst>
              <a:ext uri="{FF2B5EF4-FFF2-40B4-BE49-F238E27FC236}">
                <a16:creationId xmlns:a16="http://schemas.microsoft.com/office/drawing/2014/main" id="{513D9894-90BB-8A6E-8859-E534FF726ACE}"/>
              </a:ext>
            </a:extLst>
          </p:cNvPr>
          <p:cNvPicPr>
            <a:picLocks noChangeAspect="1"/>
          </p:cNvPicPr>
          <p:nvPr/>
        </p:nvPicPr>
        <p:blipFill>
          <a:blip r:embed="rId5"/>
          <a:stretch>
            <a:fillRect/>
          </a:stretch>
        </p:blipFill>
        <p:spPr>
          <a:xfrm>
            <a:off x="5644802" y="4849090"/>
            <a:ext cx="4966489" cy="3928563"/>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844799" y="199997"/>
            <a:ext cx="5321301" cy="599966"/>
          </a:xfrm>
        </p:spPr>
        <p:txBody>
          <a:bodyPr/>
          <a:lstStyle/>
          <a:p>
            <a:r>
              <a:rPr lang="en-US" u="sng" dirty="0"/>
              <a:t>CUSTOMER ANALYSIS</a:t>
            </a:r>
            <a:endParaRPr u="sng" dirty="0"/>
          </a:p>
        </p:txBody>
      </p:sp>
      <p:sp>
        <p:nvSpPr>
          <p:cNvPr id="3" name="Content Placeholder 2"/>
          <p:cNvSpPr>
            <a:spLocks noGrp="1"/>
          </p:cNvSpPr>
          <p:nvPr>
            <p:ph idx="1"/>
          </p:nvPr>
        </p:nvSpPr>
        <p:spPr>
          <a:xfrm>
            <a:off x="571500" y="947199"/>
            <a:ext cx="9740899" cy="7663401"/>
          </a:xfrm>
        </p:spPr>
        <p:txBody>
          <a:bodyPr/>
          <a:lstStyle/>
          <a:p>
            <a:r>
              <a:rPr lang="en-US" sz="2800" b="1" u="sng" dirty="0"/>
              <a:t>Key Insights:</a:t>
            </a:r>
          </a:p>
          <a:p>
            <a:pPr marL="0" indent="0">
              <a:buNone/>
            </a:pPr>
            <a:endParaRPr lang="en-US" sz="2800" b="1" u="sng" dirty="0"/>
          </a:p>
          <a:p>
            <a:pPr lvl="1" algn="just"/>
            <a:r>
              <a:rPr lang="en-US" sz="2400" dirty="0"/>
              <a:t>USA, Germany, and France dominate customer base; top 5 countries account for 60%+ of total customers</a:t>
            </a:r>
          </a:p>
          <a:p>
            <a:pPr lvl="1" algn="just"/>
            <a:r>
              <a:rPr lang="en-US" sz="2400" dirty="0"/>
              <a:t>Consistent growth in customer acquisition from 1996-1998 with increasing repeat order rates over time</a:t>
            </a:r>
          </a:p>
          <a:p>
            <a:pPr lvl="1" algn="just"/>
            <a:r>
              <a:rPr lang="en-US" sz="2400" dirty="0"/>
              <a:t>Owners represent largest contact segment (30-35%) followed by Sales Representatives</a:t>
            </a:r>
          </a:p>
          <a:p>
            <a:pPr lvl="1" algn="just"/>
            <a:r>
              <a:rPr lang="en-US" sz="2400" dirty="0"/>
              <a:t>European markets show strong concentration; Latin American and Asian presence minimal</a:t>
            </a:r>
          </a:p>
          <a:p>
            <a:pPr lvl="1" algn="just"/>
            <a:r>
              <a:rPr lang="en-US" sz="2400" dirty="0"/>
              <a:t>Customer engagement peaks align with order volume peaks; retention appears strong based on recurring patterns</a:t>
            </a:r>
          </a:p>
          <a:p>
            <a:pPr lvl="1" algn="just"/>
            <a:r>
              <a:rPr lang="en-US" sz="2400" dirty="0"/>
              <a:t>Wide variety of contact titles indicates diverse B2B relationships with direct decision-maker access</a:t>
            </a:r>
          </a:p>
          <a:p>
            <a:endParaRPr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EC3B12-7E77-DA62-F8BE-E8C77455907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D37DA8-9BC8-F91D-EC0E-4E6D1C570716}"/>
              </a:ext>
            </a:extLst>
          </p:cNvPr>
          <p:cNvSpPr>
            <a:spLocks noGrp="1"/>
          </p:cNvSpPr>
          <p:nvPr>
            <p:ph type="title"/>
          </p:nvPr>
        </p:nvSpPr>
        <p:spPr>
          <a:xfrm>
            <a:off x="1346200" y="215763"/>
            <a:ext cx="8343900" cy="698638"/>
          </a:xfrm>
        </p:spPr>
        <p:txBody>
          <a:bodyPr/>
          <a:lstStyle/>
          <a:p>
            <a:r>
              <a:rPr u="sng" dirty="0"/>
              <a:t>Strategic Recommendations</a:t>
            </a:r>
          </a:p>
        </p:txBody>
      </p:sp>
      <p:sp>
        <p:nvSpPr>
          <p:cNvPr id="3" name="Content Placeholder 2">
            <a:extLst>
              <a:ext uri="{FF2B5EF4-FFF2-40B4-BE49-F238E27FC236}">
                <a16:creationId xmlns:a16="http://schemas.microsoft.com/office/drawing/2014/main" id="{CBF496B6-578B-2DEF-12E4-53863818D7B3}"/>
              </a:ext>
            </a:extLst>
          </p:cNvPr>
          <p:cNvSpPr>
            <a:spLocks noGrp="1"/>
          </p:cNvSpPr>
          <p:nvPr>
            <p:ph idx="1"/>
          </p:nvPr>
        </p:nvSpPr>
        <p:spPr>
          <a:xfrm>
            <a:off x="518661" y="1048799"/>
            <a:ext cx="9768339" cy="7523701"/>
          </a:xfrm>
        </p:spPr>
        <p:txBody>
          <a:bodyPr>
            <a:normAutofit fontScale="92500"/>
          </a:bodyPr>
          <a:lstStyle/>
          <a:p>
            <a:pPr algn="just"/>
            <a:r>
              <a:rPr lang="en-US" sz="2800" dirty="0"/>
              <a:t>Prioritize retention of high-value customers in USA/Germany markets while aggressively expanding into underrepresented Latin American and Asian regions.</a:t>
            </a:r>
          </a:p>
          <a:p>
            <a:pPr algn="just"/>
            <a:r>
              <a:rPr lang="en-US" sz="2800" dirty="0"/>
              <a:t>Concentrate inventory investment on top-performing Beverages, Dairy, and Seafood categories while phasing out underperforming Grains/Cereals. </a:t>
            </a:r>
          </a:p>
          <a:p>
            <a:pPr algn="just"/>
            <a:r>
              <a:rPr lang="en-US" sz="2800" dirty="0"/>
              <a:t>Diversify supplier base beyond European concentration to mitigate supply chain risks and leverage pricing variance for negotiation advantages. </a:t>
            </a:r>
          </a:p>
          <a:p>
            <a:pPr algn="just"/>
            <a:r>
              <a:rPr lang="en-US" sz="2800" dirty="0"/>
              <a:t>Optimize shipping partnerships with Federal Shipping and Speedy Express based on performance data.</a:t>
            </a:r>
          </a:p>
          <a:p>
            <a:pPr algn="just"/>
            <a:r>
              <a:rPr lang="en-US" sz="2800" dirty="0"/>
              <a:t>Strengthen sales team presence in emerging markets and implement dynamic pricing for high-variance product categories to maximize margins.</a:t>
            </a:r>
            <a:endParaRPr sz="2800" dirty="0"/>
          </a:p>
        </p:txBody>
      </p:sp>
    </p:spTree>
    <p:extLst>
      <p:ext uri="{BB962C8B-B14F-4D97-AF65-F5344CB8AC3E}">
        <p14:creationId xmlns:p14="http://schemas.microsoft.com/office/powerpoint/2010/main" val="9594450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05199" y="199997"/>
            <a:ext cx="3962401" cy="599966"/>
          </a:xfrm>
        </p:spPr>
        <p:txBody>
          <a:bodyPr/>
          <a:lstStyle/>
          <a:p>
            <a:r>
              <a:rPr u="sng" dirty="0"/>
              <a:t>Conclusion</a:t>
            </a:r>
          </a:p>
        </p:txBody>
      </p:sp>
      <p:sp>
        <p:nvSpPr>
          <p:cNvPr id="3" name="Content Placeholder 2"/>
          <p:cNvSpPr>
            <a:spLocks noGrp="1"/>
          </p:cNvSpPr>
          <p:nvPr>
            <p:ph idx="1"/>
          </p:nvPr>
        </p:nvSpPr>
        <p:spPr>
          <a:xfrm>
            <a:off x="495301" y="985299"/>
            <a:ext cx="9893300" cy="7650701"/>
          </a:xfrm>
        </p:spPr>
        <p:txBody>
          <a:bodyPr>
            <a:normAutofit/>
          </a:bodyPr>
          <a:lstStyle/>
          <a:p>
            <a:pPr algn="just"/>
            <a:r>
              <a:rPr sz="2400" dirty="0"/>
              <a:t>Data-driven insights support better business decisions</a:t>
            </a:r>
            <a:endParaRPr lang="en-US" sz="2400" dirty="0"/>
          </a:p>
          <a:p>
            <a:pPr algn="just"/>
            <a:r>
              <a:rPr lang="en-US" sz="2400" dirty="0"/>
              <a:t>Northwind Traders exhibits strong foundational performance driven by concentrated high-value customers and top-tier products, but concentration risks across geography, suppliers, and categories demand immediate diversification strategies. </a:t>
            </a:r>
          </a:p>
          <a:p>
            <a:pPr algn="just"/>
            <a:r>
              <a:rPr lang="en-US" sz="2400" dirty="0"/>
              <a:t>The analysis reveals substantial untapped potential in underrepresented markets and significant margin improvement opportunities through supplier negotiation and pricing optimization.</a:t>
            </a:r>
          </a:p>
          <a:p>
            <a:pPr algn="just"/>
            <a:r>
              <a:rPr lang="en-US" sz="2400" dirty="0"/>
              <a:t> By leveraging these data-driven insights to shift from reactive to predictive decision-making, the company can achieve sustainable growth, enhanced profitability, and strengthened competitive positioning in the specialty foods wholesale industry.</a:t>
            </a:r>
            <a:endParaRPr sz="24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F7C9FE-34C4-B536-15B9-091F6C6FDCE8}"/>
              </a:ext>
            </a:extLst>
          </p:cNvPr>
          <p:cNvSpPr>
            <a:spLocks noGrp="1"/>
          </p:cNvSpPr>
          <p:nvPr>
            <p:ph type="title"/>
          </p:nvPr>
        </p:nvSpPr>
        <p:spPr>
          <a:xfrm>
            <a:off x="606248" y="520562"/>
            <a:ext cx="9668051" cy="7836038"/>
          </a:xfrm>
        </p:spPr>
        <p:txBody>
          <a:bodyPr>
            <a:normAutofit/>
          </a:bodyPr>
          <a:lstStyle/>
          <a:p>
            <a:r>
              <a:rPr lang="en-US" sz="7200" u="sng" dirty="0">
                <a:solidFill>
                  <a:srgbClr val="00B050"/>
                </a:solidFill>
              </a:rPr>
              <a:t>THANK YOU</a:t>
            </a:r>
            <a:endParaRPr lang="en-IN" sz="7200" u="sng" dirty="0">
              <a:solidFill>
                <a:srgbClr val="00B050"/>
              </a:solidFill>
            </a:endParaRPr>
          </a:p>
        </p:txBody>
      </p:sp>
    </p:spTree>
    <p:extLst>
      <p:ext uri="{BB962C8B-B14F-4D97-AF65-F5344CB8AC3E}">
        <p14:creationId xmlns:p14="http://schemas.microsoft.com/office/powerpoint/2010/main" val="407565843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TM04033921[[fn=Damask]]</Template>
  <TotalTime>375</TotalTime>
  <Words>1298</Words>
  <Application>Microsoft Office PowerPoint</Application>
  <PresentationFormat>Custom</PresentationFormat>
  <Paragraphs>91</Paragraphs>
  <Slides>21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21</vt:i4>
      </vt:variant>
    </vt:vector>
  </HeadingPairs>
  <TitlesOfParts>
    <vt:vector size="27" baseType="lpstr">
      <vt:lpstr>Arial</vt:lpstr>
      <vt:lpstr>Bookman Old Style</vt:lpstr>
      <vt:lpstr>Calibri</vt:lpstr>
      <vt:lpstr>Rockwell</vt:lpstr>
      <vt:lpstr>Times New Roman</vt:lpstr>
      <vt:lpstr>Damask</vt:lpstr>
      <vt:lpstr>Northwind Traders – Power BI Analysis</vt:lpstr>
      <vt:lpstr>Project Overview</vt:lpstr>
      <vt:lpstr>Project Overview</vt:lpstr>
      <vt:lpstr>ER Diagram</vt:lpstr>
      <vt:lpstr>Power BI EDA – Questions </vt:lpstr>
      <vt:lpstr>Power BI EDA – Questions </vt:lpstr>
      <vt:lpstr>North Wind Traders Analysis Report</vt:lpstr>
      <vt:lpstr>SALES Analysis </vt:lpstr>
      <vt:lpstr>Sales Analysis </vt:lpstr>
      <vt:lpstr>Product &amp; Inventory Analysis</vt:lpstr>
      <vt:lpstr>PowerPoint Presentation</vt:lpstr>
      <vt:lpstr>PRODUCT &amp; INVENTORY ANALYSIS</vt:lpstr>
      <vt:lpstr>Employee Analysis</vt:lpstr>
      <vt:lpstr>EMPLOYEE ANALYSIS</vt:lpstr>
      <vt:lpstr>Supplier Analysis</vt:lpstr>
      <vt:lpstr>SUPPLY ANALYSIS</vt:lpstr>
      <vt:lpstr>Customer Analysis</vt:lpstr>
      <vt:lpstr>CUSTOMER ANALYSIS</vt:lpstr>
      <vt:lpstr>Strategic Recommendations</vt:lpstr>
      <vt:lpstr>Conclusion</vt:lpstr>
      <vt:lpstr>THANK YOU</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Sagar</cp:lastModifiedBy>
  <cp:revision>21</cp:revision>
  <dcterms:created xsi:type="dcterms:W3CDTF">2013-01-27T09:14:16Z</dcterms:created>
  <dcterms:modified xsi:type="dcterms:W3CDTF">2026-01-17T14:12:59Z</dcterms:modified>
  <cp:category/>
</cp:coreProperties>
</file>